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67" r:id="rId2"/>
    <p:sldId id="257" r:id="rId3"/>
    <p:sldId id="258" r:id="rId4"/>
    <p:sldId id="259" r:id="rId5"/>
    <p:sldId id="277" r:id="rId6"/>
    <p:sldId id="260" r:id="rId7"/>
    <p:sldId id="261" r:id="rId8"/>
    <p:sldId id="262" r:id="rId9"/>
    <p:sldId id="263" r:id="rId10"/>
    <p:sldId id="264" r:id="rId11"/>
    <p:sldId id="268" r:id="rId12"/>
    <p:sldId id="269" r:id="rId13"/>
    <p:sldId id="270" r:id="rId14"/>
    <p:sldId id="271" r:id="rId15"/>
    <p:sldId id="272" r:id="rId16"/>
    <p:sldId id="273" r:id="rId17"/>
    <p:sldId id="274" r:id="rId18"/>
    <p:sldId id="275" r:id="rId19"/>
    <p:sldId id="276" r:id="rId20"/>
    <p:sldId id="265" r:id="rId21"/>
    <p:sldId id="278" r:id="rId22"/>
    <p:sldId id="279" r:id="rId23"/>
    <p:sldId id="280"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7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347" y="1122363"/>
            <a:ext cx="7773308"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685347" y="3602038"/>
            <a:ext cx="777330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692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2080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657227"/>
            <a:ext cx="7300134"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921933" y="3602039"/>
            <a:ext cx="730013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64590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2088320"/>
            <a:ext cx="3829503"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2088320"/>
            <a:ext cx="3820616"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87914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1"/>
            <a:ext cx="776532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5427" y="2088320"/>
            <a:ext cx="3600326"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346" y="2912232"/>
            <a:ext cx="3830406"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9230" y="2088320"/>
            <a:ext cx="3591437"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912232"/>
            <a:ext cx="382151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6618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45726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015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2949178"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3808548" y="609600"/>
            <a:ext cx="4642119"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971801"/>
            <a:ext cx="2949178"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09602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609600"/>
            <a:ext cx="416760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49932" y="758881"/>
            <a:ext cx="2966938"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2971800"/>
            <a:ext cx="4171242"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4566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4289373"/>
            <a:ext cx="7775673"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621322"/>
            <a:ext cx="7775673"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74499"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8256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9601"/>
            <a:ext cx="776532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7" y="4204820"/>
            <a:ext cx="776532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818060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2"/>
            <a:ext cx="6564224"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5" y="4204821"/>
            <a:ext cx="776532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505245" y="641749"/>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946721" y="3073376"/>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55514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2126943"/>
            <a:ext cx="7766495"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650556"/>
            <a:ext cx="776532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35757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609601"/>
            <a:ext cx="776532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2088320"/>
            <a:ext cx="2474217"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911624"/>
            <a:ext cx="2474217"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3658" y="2088320"/>
            <a:ext cx="2473919"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3659" y="2911624"/>
            <a:ext cx="247486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9974" y="2088320"/>
            <a:ext cx="246840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2260" y="2911624"/>
            <a:ext cx="2468408"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9177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609601"/>
            <a:ext cx="776532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989147"/>
            <a:ext cx="2474216"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19015" y="2092235"/>
            <a:ext cx="2205038"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7" y="4565409"/>
            <a:ext cx="2474216"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26" y="3989147"/>
            <a:ext cx="2474237"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26747" y="2092235"/>
            <a:ext cx="2197894"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11" y="4565408"/>
            <a:ext cx="2475252" cy="122579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80067" y="3989147"/>
            <a:ext cx="246742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114603" y="2092235"/>
            <a:ext cx="219908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9973" y="4565410"/>
            <a:ext cx="2470694" cy="122579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3535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45971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609600"/>
            <a:ext cx="1906993"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609600"/>
            <a:ext cx="5744029"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748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609601"/>
            <a:ext cx="776532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2096064"/>
            <a:ext cx="776532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4/25/2026</a:t>
            </a:fld>
            <a:endParaRPr lang="en-US"/>
          </a:p>
        </p:txBody>
      </p:sp>
      <p:sp>
        <p:nvSpPr>
          <p:cNvPr id="5" name="Footer Placeholder 4"/>
          <p:cNvSpPr>
            <a:spLocks noGrp="1"/>
          </p:cNvSpPr>
          <p:nvPr>
            <p:ph type="ftr" sz="quarter" idx="3"/>
          </p:nvPr>
        </p:nvSpPr>
        <p:spPr>
          <a:xfrm>
            <a:off x="685346" y="5883276"/>
            <a:ext cx="5004649"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40123136"/>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6.xml"/><Relationship Id="rId5" Type="http://schemas.openxmlformats.org/officeDocument/2006/relationships/image" Target="../media/image44.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matplotlib.org/stable/users/index.html" TargetMode="External"/><Relationship Id="rId2" Type="http://schemas.openxmlformats.org/officeDocument/2006/relationships/hyperlink" Target="https://www.geeksforgeeks.org/python/python-simple-gui-calculator-using-tkinter/"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A55C57-4408-9180-37B5-121A46DF96C2}"/>
              </a:ext>
            </a:extLst>
          </p:cNvPr>
          <p:cNvPicPr>
            <a:picLocks noChangeAspect="1"/>
          </p:cNvPicPr>
          <p:nvPr/>
        </p:nvPicPr>
        <p:blipFill>
          <a:blip r:embed="rId2"/>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A8A212CE-3FFE-8D16-7E74-25DC23FF1C35}"/>
              </a:ext>
            </a:extLst>
          </p:cNvPr>
          <p:cNvPicPr>
            <a:picLocks noChangeAspect="1"/>
          </p:cNvPicPr>
          <p:nvPr/>
        </p:nvPicPr>
        <p:blipFill>
          <a:blip r:embed="rId3"/>
          <a:srcRect t="30894" b="30081"/>
          <a:stretch>
            <a:fillRect/>
          </a:stretch>
        </p:blipFill>
        <p:spPr>
          <a:xfrm>
            <a:off x="3972232" y="6287729"/>
            <a:ext cx="1809136" cy="570271"/>
          </a:xfrm>
          <a:prstGeom prst="rect">
            <a:avLst/>
          </a:prstGeom>
        </p:spPr>
      </p:pic>
    </p:spTree>
    <p:extLst>
      <p:ext uri="{BB962C8B-B14F-4D97-AF65-F5344CB8AC3E}">
        <p14:creationId xmlns:p14="http://schemas.microsoft.com/office/powerpoint/2010/main" val="61901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4800" b="1" dirty="0">
                <a:latin typeface="Times New Roman" panose="02020603050405020304" pitchFamily="18" charset="0"/>
                <a:cs typeface="Times New Roman" panose="02020603050405020304" pitchFamily="18" charset="0"/>
              </a:rPr>
              <a:t>I</a:t>
            </a:r>
            <a:r>
              <a:rPr lang="en-US" sz="4800" b="1" dirty="0">
                <a:latin typeface="Times New Roman" panose="02020603050405020304" pitchFamily="18" charset="0"/>
                <a:cs typeface="Times New Roman" panose="02020603050405020304" pitchFamily="18" charset="0"/>
              </a:rPr>
              <a:t>NTRODUCTION</a:t>
            </a:r>
            <a:endParaRPr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r>
              <a:rPr lang="en-US" sz="2800" dirty="0">
                <a:latin typeface="Times New Roman" panose="02020603050405020304" pitchFamily="18" charset="0"/>
                <a:cs typeface="Times New Roman" panose="02020603050405020304" pitchFamily="18" charset="0"/>
              </a:rPr>
              <a:t>In this project, a GUI-based calculator is developed using Python and </a:t>
            </a:r>
            <a:r>
              <a:rPr lang="en-US" sz="2800" dirty="0" err="1">
                <a:latin typeface="Times New Roman" panose="02020603050405020304" pitchFamily="18" charset="0"/>
                <a:cs typeface="Times New Roman" panose="02020603050405020304" pitchFamily="18" charset="0"/>
              </a:rPr>
              <a:t>Tkinter</a:t>
            </a:r>
            <a:r>
              <a:rPr lang="en-US" sz="2800" dirty="0">
                <a:latin typeface="Times New Roman" panose="02020603050405020304" pitchFamily="18" charset="0"/>
                <a:cs typeface="Times New Roman" panose="02020603050405020304" pitchFamily="18" charset="0"/>
              </a:rPr>
              <a:t> to perform various mathematical operations.</a:t>
            </a:r>
          </a:p>
          <a:p>
            <a:r>
              <a:rPr lang="en-US" sz="2800" dirty="0">
                <a:latin typeface="Times New Roman" panose="02020603050405020304" pitchFamily="18" charset="0"/>
                <a:cs typeface="Times New Roman" panose="02020603050405020304" pitchFamily="18" charset="0"/>
              </a:rPr>
              <a:t>The application includes basic, scientific, and advanced functionalities such as trigonometric calculations, graph plotting, and unit conversion.</a:t>
            </a:r>
          </a:p>
          <a:p>
            <a:r>
              <a:rPr lang="en-US" sz="2800" dirty="0">
                <a:latin typeface="Times New Roman" panose="02020603050405020304" pitchFamily="18" charset="0"/>
                <a:cs typeface="Times New Roman" panose="02020603050405020304" pitchFamily="18" charset="0"/>
              </a:rPr>
              <a:t>The goal is to build a user-friendly and efficient application</a:t>
            </a:r>
            <a:r>
              <a:rPr lang="en-US" dirty="0"/>
              <a:t>.</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O</a:t>
            </a:r>
            <a:r>
              <a:rPr lang="en-US" b="1" dirty="0">
                <a:latin typeface="Times New Roman" panose="02020603050405020304" pitchFamily="18" charset="0"/>
                <a:cs typeface="Times New Roman" panose="02020603050405020304" pitchFamily="18" charset="0"/>
              </a:rPr>
              <a:t>BJECTIVE</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Create a  GUI-based calculator using Python and </a:t>
            </a:r>
            <a:r>
              <a:rPr lang="en-US" sz="2200" dirty="0" err="1">
                <a:latin typeface="Times New Roman" panose="02020603050405020304" pitchFamily="18" charset="0"/>
                <a:cs typeface="Times New Roman" panose="02020603050405020304" pitchFamily="18" charset="0"/>
              </a:rPr>
              <a:t>Tkinter</a:t>
            </a:r>
            <a:r>
              <a:rPr lang="en-US" sz="22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To perform basic, scientific,  advanced and </a:t>
            </a:r>
            <a:r>
              <a:rPr lang="en-US" sz="2200" dirty="0" err="1">
                <a:latin typeface="Times New Roman" panose="02020603050405020304" pitchFamily="18" charset="0"/>
                <a:cs typeface="Times New Roman" panose="02020603050405020304" pitchFamily="18" charset="0"/>
              </a:rPr>
              <a:t>propro</a:t>
            </a:r>
            <a:r>
              <a:rPr lang="en-US" sz="2200" dirty="0">
                <a:latin typeface="Times New Roman" panose="02020603050405020304" pitchFamily="18" charset="0"/>
                <a:cs typeface="Times New Roman" panose="02020603050405020304" pitchFamily="18" charset="0"/>
              </a:rPr>
              <a:t> mathematical operations</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Create a user-friendly and interactive interface.</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Add advanced features like graph and converter</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To gain practical knowledge of application development.</a:t>
            </a:r>
          </a:p>
          <a:p>
            <a:pPr>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 To understand the implementation of real-world projects using Python</a:t>
            </a:r>
            <a:r>
              <a:rPr lang="en-US" dirty="0"/>
              <a:t>.</a:t>
            </a:r>
          </a:p>
          <a:p>
            <a:endParaRPr lang="en-IN" dirty="0"/>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TECHNOLOGIES USED</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pPr marL="0" indent="0">
              <a:buNone/>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Python</a:t>
            </a:r>
            <a:r>
              <a:rPr lang="en-IN" sz="2400" dirty="0">
                <a:latin typeface="Times New Roman" panose="02020603050405020304" pitchFamily="18" charset="0"/>
                <a:cs typeface="Times New Roman" panose="02020603050405020304" pitchFamily="18" charset="0"/>
              </a:rPr>
              <a:t> – Programming language used for development.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Tkinter</a:t>
            </a:r>
            <a:r>
              <a:rPr lang="en-IN" sz="2400" dirty="0">
                <a:latin typeface="Times New Roman" panose="02020603050405020304" pitchFamily="18" charset="0"/>
                <a:cs typeface="Times New Roman" panose="02020603050405020304" pitchFamily="18" charset="0"/>
              </a:rPr>
              <a:t> – GUI library for designing the interface.</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Matplotlib</a:t>
            </a:r>
            <a:r>
              <a:rPr lang="en-IN" sz="2400" dirty="0">
                <a:latin typeface="Times New Roman" panose="02020603050405020304" pitchFamily="18" charset="0"/>
                <a:cs typeface="Times New Roman" panose="02020603050405020304" pitchFamily="18" charset="0"/>
              </a:rPr>
              <a:t> – Used for graph plotting functionality.</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Math Library</a:t>
            </a:r>
            <a:r>
              <a:rPr lang="en-IN" sz="2400" dirty="0">
                <a:latin typeface="Times New Roman" panose="02020603050405020304" pitchFamily="18" charset="0"/>
                <a:cs typeface="Times New Roman" panose="02020603050405020304" pitchFamily="18" charset="0"/>
              </a:rPr>
              <a:t> – For performing scientific calculations.</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Visual Studio Code</a:t>
            </a:r>
            <a:r>
              <a:rPr lang="en-IN" sz="2400" dirty="0">
                <a:latin typeface="Times New Roman" panose="02020603050405020304" pitchFamily="18" charset="0"/>
                <a:cs typeface="Times New Roman" panose="02020603050405020304" pitchFamily="18" charset="0"/>
              </a:rPr>
              <a:t> – Code editor used for development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GitHub</a:t>
            </a:r>
            <a:r>
              <a:rPr lang="en-IN" sz="2400" dirty="0">
                <a:latin typeface="Times New Roman" panose="02020603050405020304" pitchFamily="18" charset="0"/>
                <a:cs typeface="Times New Roman" panose="02020603050405020304" pitchFamily="18" charset="0"/>
              </a:rPr>
              <a:t> – For code version control and project submission.</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800" dirty="0"/>
              <a:t>🐍 Python    🖥️ </a:t>
            </a:r>
            <a:r>
              <a:rPr lang="en-IN" sz="2800" dirty="0" err="1"/>
              <a:t>Tkinter</a:t>
            </a:r>
            <a:r>
              <a:rPr lang="en-IN" sz="2800" dirty="0"/>
              <a:t> (GUI) 📊 Matplotlib (Graph)  </a:t>
            </a:r>
          </a:p>
          <a:p>
            <a:pPr marL="0" indent="0">
              <a:buNone/>
            </a:pPr>
            <a:r>
              <a:rPr lang="en-IN" sz="2800" dirty="0"/>
              <a:t>➗ Math Library   💻 Visual Studio Code  🔗 GitHub</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8284-CF98-78FD-5915-9D5E1716472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INSTALLATIONS &amp; SETUIP</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CC7B2B4-95F5-0ED3-9838-BB47B443ABE2}"/>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 Python must be installed on the system</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Required libraries: </a:t>
            </a:r>
            <a:r>
              <a:rPr lang="en-US" sz="2400" dirty="0" err="1">
                <a:latin typeface="Times New Roman" panose="02020603050405020304" pitchFamily="18" charset="0"/>
                <a:cs typeface="Times New Roman" panose="02020603050405020304" pitchFamily="18" charset="0"/>
              </a:rPr>
              <a:t>Tkinter</a:t>
            </a:r>
            <a:r>
              <a:rPr lang="en-US" sz="2400" dirty="0">
                <a:latin typeface="Times New Roman" panose="02020603050405020304" pitchFamily="18" charset="0"/>
                <a:cs typeface="Times New Roman" panose="02020603050405020304" pitchFamily="18" charset="0"/>
              </a:rPr>
              <a:t> (for GUI), Matplotlib (for graph)</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Install libraries using pip if not available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Use VS Code or any IDE to run the project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Download or clone the project from GitHub repository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Execute the Python file to launch the application</a:t>
            </a:r>
          </a:p>
          <a:p>
            <a:endParaRPr lang="en-IN" dirty="0"/>
          </a:p>
        </p:txBody>
      </p:sp>
    </p:spTree>
    <p:extLst>
      <p:ext uri="{BB962C8B-B14F-4D97-AF65-F5344CB8AC3E}">
        <p14:creationId xmlns:p14="http://schemas.microsoft.com/office/powerpoint/2010/main" val="2433555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64227"/>
          </a:xfrm>
        </p:spPr>
        <p:txBody>
          <a:bodyPr>
            <a:normAutofit/>
          </a:bodyPr>
          <a:lstStyle/>
          <a:p>
            <a:r>
              <a:rPr lang="en-US" sz="4800" b="1" dirty="0">
                <a:latin typeface="Times New Roman" panose="02020603050405020304" pitchFamily="18" charset="0"/>
                <a:cs typeface="Times New Roman" panose="02020603050405020304" pitchFamily="18" charset="0"/>
              </a:rPr>
              <a:t>FEATURES</a:t>
            </a:r>
            <a:endParaRPr sz="4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55174"/>
            <a:ext cx="8229600" cy="4778478"/>
          </a:xfrm>
        </p:spPr>
        <p:txBody>
          <a:bodyPr>
            <a:noAutofit/>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This slide shows the core features of the calculator including basic operations, memory functions, and user-friendly interface.</a:t>
            </a: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Basic Arithmetic Operations (+, −, ×, ÷, %)</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Interactive Button-Based Input System</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Clear (C) and Backspace (CE) Functionality</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Memory Operations (MC, MR, M+, M−)</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 Support for Mathematical Constants (</a:t>
            </a:r>
            <a:r>
              <a:rPr lang="el-GR" sz="2400" dirty="0">
                <a:latin typeface="Times New Roman" panose="02020603050405020304" pitchFamily="18" charset="0"/>
                <a:cs typeface="Times New Roman" panose="02020603050405020304" pitchFamily="18" charset="0"/>
              </a:rPr>
              <a:t>π, </a:t>
            </a:r>
            <a:r>
              <a:rPr lang="en-IN" sz="2400" dirty="0">
                <a:latin typeface="Times New Roman" panose="02020603050405020304" pitchFamily="18" charset="0"/>
                <a:cs typeface="Times New Roman" panose="02020603050405020304" pitchFamily="18" charset="0"/>
              </a:rPr>
              <a:t>e)</a:t>
            </a:r>
          </a:p>
          <a:p>
            <a:pPr>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User-Friendly and Responsive GUI Design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ADVANCED FEATURES</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This slide highlights advanced functionalities such as scientific calculations, graph plotting, unit conversion, and angle mode selection.</a:t>
            </a:r>
          </a:p>
          <a:p>
            <a:pPr marL="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Scientific Functions (sin, cos, tan, log, ln, exp)</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Advanced Mathematical Operations (√, x², x³, </a:t>
            </a:r>
            <a:r>
              <a:rPr lang="en-IN" dirty="0" err="1">
                <a:latin typeface="Times New Roman" panose="02020603050405020304" pitchFamily="18" charset="0"/>
                <a:cs typeface="Times New Roman" panose="02020603050405020304" pitchFamily="18" charset="0"/>
              </a:rPr>
              <a:t>xʸ</a:t>
            </a:r>
            <a:r>
              <a:rPr lang="en-IN" dirty="0">
                <a:latin typeface="Times New Roman" panose="02020603050405020304" pitchFamily="18" charset="0"/>
                <a:cs typeface="Times New Roman" panose="02020603050405020304" pitchFamily="18" charset="0"/>
              </a:rPr>
              <a:t>, factorial, |x|, 1/x)</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Graph Plotting Functionality 📊</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Unit Conversion Feature 🌡️</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DEG and RAD Mode for Angle Calculations.</a:t>
            </a:r>
          </a:p>
          <a:p>
            <a:pPr>
              <a:buFont typeface="Wingdings" panose="05000000000000000000" pitchFamily="2" charset="2"/>
              <a:buChar char="ü"/>
            </a:pPr>
            <a:r>
              <a:rPr lang="en-IN" dirty="0">
                <a:latin typeface="Times New Roman" panose="02020603050405020304" pitchFamily="18" charset="0"/>
                <a:cs typeface="Times New Roman" panose="02020603050405020304" pitchFamily="18" charset="0"/>
              </a:rPr>
              <a:t>Modern Dark Theme Interface for Better User Experience.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W</a:t>
            </a:r>
            <a:r>
              <a:rPr lang="en-US" b="1" dirty="0">
                <a:latin typeface="Times New Roman" panose="02020603050405020304" pitchFamily="18" charset="0"/>
                <a:cs typeface="Times New Roman" panose="02020603050405020304" pitchFamily="18" charset="0"/>
              </a:rPr>
              <a:t>ORKINGS</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346" y="1779639"/>
            <a:ext cx="7765322" cy="4689987"/>
          </a:xfrm>
        </p:spPr>
        <p:txBody>
          <a:bodyPr>
            <a:normAutofit fontScale="85000" lnSpcReduction="10000"/>
          </a:bodyPr>
          <a:lstStyle/>
          <a:p>
            <a:pPr>
              <a:buFont typeface="Wingdings" panose="05000000000000000000" pitchFamily="2" charset="2"/>
              <a:buChar char="Ø"/>
            </a:pPr>
            <a:r>
              <a:rPr lang="en-US" sz="1800" dirty="0"/>
              <a:t> </a:t>
            </a:r>
            <a:r>
              <a:rPr lang="en-US" sz="1800" dirty="0">
                <a:latin typeface="Times New Roman" panose="02020603050405020304" pitchFamily="18" charset="0"/>
                <a:cs typeface="Times New Roman" panose="02020603050405020304" pitchFamily="18" charset="0"/>
              </a:rPr>
              <a:t>The project is divided into four versions: Basic, Jumbo, Advanced, and </a:t>
            </a:r>
            <a:r>
              <a:rPr lang="en-US" sz="1800" dirty="0" err="1">
                <a:latin typeface="Times New Roman" panose="02020603050405020304" pitchFamily="18" charset="0"/>
                <a:cs typeface="Times New Roman" panose="02020603050405020304" pitchFamily="18" charset="0"/>
              </a:rPr>
              <a:t>propro</a:t>
            </a:r>
            <a:r>
              <a:rPr lang="en-US" sz="1800" dirty="0">
                <a:latin typeface="Times New Roman" panose="02020603050405020304" pitchFamily="18" charset="0"/>
                <a:cs typeface="Times New Roman" panose="02020603050405020304" pitchFamily="18" charset="0"/>
              </a:rPr>
              <a:t> Calculator.</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Each version increases in complexity and functionality</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Basic Calculator performs simple arithmetic operations.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Jumbo Calculator includes scientific and additional mathematical functions</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The Jumbo Advanced Calculator introduces features like graph plotting and history</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Jumbo </a:t>
            </a:r>
            <a:r>
              <a:rPr lang="en-US" sz="1800" dirty="0" err="1">
                <a:latin typeface="Times New Roman" panose="02020603050405020304" pitchFamily="18" charset="0"/>
                <a:cs typeface="Times New Roman" panose="02020603050405020304" pitchFamily="18" charset="0"/>
              </a:rPr>
              <a:t>Propro</a:t>
            </a:r>
            <a:r>
              <a:rPr lang="en-US" sz="1800" dirty="0">
                <a:latin typeface="Times New Roman" panose="02020603050405020304" pitchFamily="18" charset="0"/>
                <a:cs typeface="Times New Roman" panose="02020603050405020304" pitchFamily="18" charset="0"/>
              </a:rPr>
              <a:t> Calculator integrates all features including memory, converter, and mode selection.</a:t>
            </a:r>
          </a:p>
          <a:p>
            <a:pPr>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application works on an event-driven approach where the user interacts with the system through buttons. When a user presses a button, the corresponding value is displayed dynamically on the screen. The entered expression is processed using Python logic and evaluated using built-in and math functions. The result is displayed instantly, and proper error handling ensures smooth execution. Additionally, features like graph plotting and unit conversion are handled through separate modules to enhance functionality and user experience.</a:t>
            </a:r>
            <a:endParaRPr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0768"/>
          </a:xfrm>
        </p:spPr>
        <p:txBody>
          <a:bodyPr>
            <a:noAutofit/>
          </a:bodyPr>
          <a:lstStyle/>
          <a:p>
            <a:r>
              <a:rPr lang="en-US" b="1" dirty="0">
                <a:latin typeface="Times New Roman" panose="02020603050405020304" pitchFamily="18" charset="0"/>
                <a:cs typeface="Times New Roman" panose="02020603050405020304" pitchFamily="18" charset="0"/>
              </a:rPr>
              <a:t>FILES USED</a:t>
            </a:r>
            <a:endParaRPr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199" y="855407"/>
            <a:ext cx="8362335" cy="5633884"/>
          </a:xfrm>
        </p:spPr>
        <p:txBody>
          <a:bodyPr>
            <a:normAutofit fontScale="25000" lnSpcReduction="20000"/>
          </a:bodyPr>
          <a:lstStyle/>
          <a:p>
            <a:pPr marL="0" indent="0">
              <a:buNone/>
            </a:pPr>
            <a:r>
              <a:rPr lang="en-IN" sz="5600" b="1" dirty="0">
                <a:latin typeface="Times New Roman" panose="02020603050405020304" pitchFamily="18" charset="0"/>
                <a:cs typeface="Times New Roman" panose="02020603050405020304" pitchFamily="18" charset="0"/>
              </a:rPr>
              <a:t>🔹 Python Source Files</a:t>
            </a:r>
          </a:p>
          <a:p>
            <a:pPr>
              <a:buFont typeface="Wingdings" panose="05000000000000000000" pitchFamily="2" charset="2"/>
              <a:buChar char="q"/>
            </a:pPr>
            <a:r>
              <a:rPr lang="en-IN" sz="5600" dirty="0">
                <a:latin typeface="Times New Roman" panose="02020603050405020304" pitchFamily="18" charset="0"/>
                <a:cs typeface="Times New Roman" panose="02020603050405020304" pitchFamily="18" charset="0"/>
              </a:rPr>
              <a:t> </a:t>
            </a:r>
            <a:r>
              <a:rPr lang="en-IN" sz="5600" b="1" u="sng" dirty="0">
                <a:solidFill>
                  <a:srgbClr val="C00000"/>
                </a:solidFill>
                <a:latin typeface="Times New Roman" panose="02020603050405020304" pitchFamily="18" charset="0"/>
                <a:cs typeface="Times New Roman" panose="02020603050405020304" pitchFamily="18" charset="0"/>
              </a:rPr>
              <a:t>calculator.py</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This file contains the basic calculator implementation.</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It performs simple arithmetic operations like addition, subtraction, multiplication, and division.</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Designed as the foundation of the project.</a:t>
            </a:r>
          </a:p>
          <a:p>
            <a:pPr marL="0" indent="0">
              <a:buNone/>
            </a:pPr>
            <a:endParaRPr lang="en-IN" sz="5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sz="5600" dirty="0">
                <a:latin typeface="Times New Roman" panose="02020603050405020304" pitchFamily="18" charset="0"/>
                <a:cs typeface="Times New Roman" panose="02020603050405020304" pitchFamily="18" charset="0"/>
              </a:rPr>
              <a:t> </a:t>
            </a:r>
            <a:r>
              <a:rPr lang="en-IN" sz="5600" b="1" u="sng" dirty="0">
                <a:solidFill>
                  <a:srgbClr val="C00000"/>
                </a:solidFill>
                <a:latin typeface="Times New Roman" panose="02020603050405020304" pitchFamily="18" charset="0"/>
                <a:cs typeface="Times New Roman" panose="02020603050405020304" pitchFamily="18" charset="0"/>
              </a:rPr>
              <a:t>Jumbo_Calculator.py</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This file includes an improved version of the calculator.</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Added extra functions such as percentage, square root, reciprocal (1/x), and </a:t>
            </a:r>
            <a:r>
              <a:rPr lang="el-GR" sz="5600" dirty="0">
                <a:latin typeface="Times New Roman" panose="02020603050405020304" pitchFamily="18" charset="0"/>
                <a:cs typeface="Times New Roman" panose="02020603050405020304" pitchFamily="18" charset="0"/>
              </a:rPr>
              <a:t>π.</a:t>
            </a:r>
            <a:br>
              <a:rPr lang="el-GR" sz="5600" dirty="0">
                <a:latin typeface="Times New Roman" panose="02020603050405020304" pitchFamily="18" charset="0"/>
                <a:cs typeface="Times New Roman" panose="02020603050405020304" pitchFamily="18" charset="0"/>
              </a:rPr>
            </a:br>
            <a:r>
              <a:rPr lang="el-GR" sz="5600" dirty="0">
                <a:latin typeface="Times New Roman" panose="02020603050405020304" pitchFamily="18" charset="0"/>
                <a:cs typeface="Times New Roman" panose="02020603050405020304" pitchFamily="18" charset="0"/>
              </a:rPr>
              <a:t>→ </a:t>
            </a:r>
            <a:r>
              <a:rPr lang="en-IN" sz="5600" dirty="0">
                <a:latin typeface="Times New Roman" panose="02020603050405020304" pitchFamily="18" charset="0"/>
                <a:cs typeface="Times New Roman" panose="02020603050405020304" pitchFamily="18" charset="0"/>
              </a:rPr>
              <a:t>Enhanced user interface for better usability.</a:t>
            </a:r>
          </a:p>
          <a:p>
            <a:pPr>
              <a:buFont typeface="Wingdings" panose="05000000000000000000" pitchFamily="2" charset="2"/>
              <a:buChar char="q"/>
            </a:pP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a:t>
            </a:r>
            <a:r>
              <a:rPr lang="en-IN" sz="5600" b="1" u="sng" dirty="0">
                <a:solidFill>
                  <a:srgbClr val="C00000"/>
                </a:solidFill>
                <a:latin typeface="Times New Roman" panose="02020603050405020304" pitchFamily="18" charset="0"/>
                <a:cs typeface="Times New Roman" panose="02020603050405020304" pitchFamily="18" charset="0"/>
              </a:rPr>
              <a:t>Jumbo_Advanced_Calculator.py</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This file implements advanced scientific features.</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Includes trigonometric functions (sin, cos, tan), logarithmic functions (log, ln), and exponential calculations.</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Also integrates graph plotting and unit converter tools.</a:t>
            </a:r>
          </a:p>
          <a:p>
            <a:pPr>
              <a:buFont typeface="Wingdings" panose="05000000000000000000" pitchFamily="2" charset="2"/>
              <a:buChar char="q"/>
            </a:pP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a:t>
            </a:r>
            <a:r>
              <a:rPr lang="en-IN" sz="5600" b="1" u="sng" dirty="0">
                <a:solidFill>
                  <a:srgbClr val="C00000"/>
                </a:solidFill>
                <a:latin typeface="Times New Roman" panose="02020603050405020304" pitchFamily="18" charset="0"/>
                <a:cs typeface="Times New Roman" panose="02020603050405020304" pitchFamily="18" charset="0"/>
              </a:rPr>
              <a:t>Jumbo_propro_Calculator.py</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This is the final and most advanced version of the calculator.</a:t>
            </a:r>
            <a:br>
              <a:rPr lang="en-IN" sz="5600" dirty="0">
                <a:latin typeface="Times New Roman" panose="02020603050405020304" pitchFamily="18" charset="0"/>
                <a:cs typeface="Times New Roman" panose="02020603050405020304" pitchFamily="18" charset="0"/>
              </a:rPr>
            </a:br>
            <a:r>
              <a:rPr lang="en-IN" sz="5600" dirty="0">
                <a:latin typeface="Times New Roman" panose="02020603050405020304" pitchFamily="18" charset="0"/>
                <a:cs typeface="Times New Roman" panose="02020603050405020304" pitchFamily="18" charset="0"/>
              </a:rPr>
              <a:t>→ Combines all features including memory functions, power operations, factorial, and DEG/RAD modes.</a:t>
            </a:r>
            <a:br>
              <a:rPr lang="en-IN" sz="6400" dirty="0">
                <a:latin typeface="Times New Roman" panose="02020603050405020304" pitchFamily="18" charset="0"/>
                <a:cs typeface="Times New Roman" panose="02020603050405020304" pitchFamily="18" charset="0"/>
              </a:rPr>
            </a:br>
            <a:r>
              <a:rPr lang="en-IN" sz="6400" dirty="0">
                <a:latin typeface="Times New Roman" panose="02020603050405020304" pitchFamily="18" charset="0"/>
                <a:cs typeface="Times New Roman" panose="02020603050405020304" pitchFamily="18" charset="0"/>
              </a:rPr>
              <a:t>→ Provides a complete professional calculator system with optimized UI.</a:t>
            </a:r>
          </a:p>
          <a:p>
            <a:pPr marL="0" indent="0">
              <a:buNone/>
            </a:pPr>
            <a:r>
              <a:rPr lang="en-IN" sz="6400" dirty="0">
                <a:latin typeface="Times New Roman" panose="02020603050405020304" pitchFamily="18" charset="0"/>
                <a:cs typeface="Times New Roman" panose="02020603050405020304" pitchFamily="18" charset="0"/>
              </a:rPr>
              <a:t>       → Also integrates graph plotting and unit converter tools.</a:t>
            </a:r>
          </a:p>
          <a:p>
            <a:pPr marL="0" indent="0">
              <a:buNone/>
            </a:pPr>
            <a:br>
              <a:rPr lang="en-IN" sz="6400" dirty="0">
                <a:latin typeface="Times New Roman" panose="02020603050405020304" pitchFamily="18" charset="0"/>
                <a:cs typeface="Times New Roman" panose="02020603050405020304" pitchFamily="18" charset="0"/>
              </a:rPr>
            </a:br>
            <a:endParaRPr lang="en-IN" sz="6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endParaRPr lang="en-IN" sz="6400" dirty="0">
              <a:latin typeface="Times New Roman" panose="02020603050405020304" pitchFamily="18" charset="0"/>
              <a:cs typeface="Times New Roman" panose="02020603050405020304" pitchFamily="18" charset="0"/>
            </a:endParaRPr>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CODING +</a:t>
            </a:r>
            <a:r>
              <a:rPr b="1" dirty="0">
                <a:latin typeface="Times New Roman" panose="02020603050405020304" pitchFamily="18" charset="0"/>
                <a:cs typeface="Times New Roman" panose="02020603050405020304" pitchFamily="18" charset="0"/>
              </a:rPr>
              <a:t>O</a:t>
            </a:r>
            <a:r>
              <a:rPr lang="en-US" b="1" dirty="0">
                <a:latin typeface="Times New Roman" panose="02020603050405020304" pitchFamily="18" charset="0"/>
                <a:cs typeface="Times New Roman" panose="02020603050405020304" pitchFamily="18" charset="0"/>
              </a:rPr>
              <a:t>UTPUTS </a:t>
            </a:r>
            <a:endParaRPr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55314EB-5F1C-B8AB-559F-B97E8949A10A}"/>
              </a:ext>
            </a:extLst>
          </p:cNvPr>
          <p:cNvPicPr>
            <a:picLocks noGrp="1" noChangeAspect="1"/>
          </p:cNvPicPr>
          <p:nvPr>
            <p:ph idx="1"/>
          </p:nvPr>
        </p:nvPicPr>
        <p:blipFill>
          <a:blip r:embed="rId2"/>
          <a:stretch>
            <a:fillRect/>
          </a:stretch>
        </p:blipFill>
        <p:spPr>
          <a:xfrm>
            <a:off x="176981" y="1758101"/>
            <a:ext cx="5702711" cy="4898338"/>
          </a:xfrm>
          <a:prstGeom prst="rect">
            <a:avLst/>
          </a:prstGeom>
        </p:spPr>
      </p:pic>
      <p:sp>
        <p:nvSpPr>
          <p:cNvPr id="7" name="TextBox 6">
            <a:extLst>
              <a:ext uri="{FF2B5EF4-FFF2-40B4-BE49-F238E27FC236}">
                <a16:creationId xmlns:a16="http://schemas.microsoft.com/office/drawing/2014/main" id="{B75F816A-6BB6-1F11-D2B7-682D2A1709CE}"/>
              </a:ext>
            </a:extLst>
          </p:cNvPr>
          <p:cNvSpPr txBox="1"/>
          <p:nvPr/>
        </p:nvSpPr>
        <p:spPr>
          <a:xfrm>
            <a:off x="660891" y="1388769"/>
            <a:ext cx="4572000" cy="369332"/>
          </a:xfrm>
          <a:prstGeom prst="rect">
            <a:avLst/>
          </a:prstGeom>
          <a:noFill/>
        </p:spPr>
        <p:txBody>
          <a:bodyPr wrap="square">
            <a:spAutoFit/>
          </a:bodyPr>
          <a:lstStyle/>
          <a:p>
            <a:pPr marL="285750" indent="-285750">
              <a:buFont typeface="Wingdings" panose="05000000000000000000" pitchFamily="2" charset="2"/>
              <a:buChar char="§"/>
            </a:pPr>
            <a:r>
              <a:rPr lang="en-IN" b="1" dirty="0">
                <a:solidFill>
                  <a:srgbClr val="FFFF00"/>
                </a:solidFill>
                <a:latin typeface="Times New Roman" panose="02020603050405020304" pitchFamily="18" charset="0"/>
                <a:cs typeface="Times New Roman" panose="02020603050405020304" pitchFamily="18" charset="0"/>
              </a:rPr>
              <a:t>calculator.py</a:t>
            </a:r>
          </a:p>
        </p:txBody>
      </p:sp>
      <p:pic>
        <p:nvPicPr>
          <p:cNvPr id="9" name="Picture 8">
            <a:extLst>
              <a:ext uri="{FF2B5EF4-FFF2-40B4-BE49-F238E27FC236}">
                <a16:creationId xmlns:a16="http://schemas.microsoft.com/office/drawing/2014/main" id="{29ADA962-00DA-B17D-0CD6-0518C210065B}"/>
              </a:ext>
            </a:extLst>
          </p:cNvPr>
          <p:cNvPicPr>
            <a:picLocks noChangeAspect="1"/>
          </p:cNvPicPr>
          <p:nvPr/>
        </p:nvPicPr>
        <p:blipFill>
          <a:blip r:embed="rId3"/>
          <a:stretch>
            <a:fillRect/>
          </a:stretch>
        </p:blipFill>
        <p:spPr>
          <a:xfrm>
            <a:off x="5978014" y="1592826"/>
            <a:ext cx="2505095" cy="2379405"/>
          </a:xfrm>
          <a:prstGeom prst="rect">
            <a:avLst/>
          </a:prstGeom>
        </p:spPr>
      </p:pic>
      <p:pic>
        <p:nvPicPr>
          <p:cNvPr id="11" name="Picture 10">
            <a:extLst>
              <a:ext uri="{FF2B5EF4-FFF2-40B4-BE49-F238E27FC236}">
                <a16:creationId xmlns:a16="http://schemas.microsoft.com/office/drawing/2014/main" id="{D169E270-8C84-35F6-8C6C-73D21CE66278}"/>
              </a:ext>
            </a:extLst>
          </p:cNvPr>
          <p:cNvPicPr>
            <a:picLocks noChangeAspect="1"/>
          </p:cNvPicPr>
          <p:nvPr/>
        </p:nvPicPr>
        <p:blipFill>
          <a:blip r:embed="rId4"/>
          <a:stretch>
            <a:fillRect/>
          </a:stretch>
        </p:blipFill>
        <p:spPr>
          <a:xfrm>
            <a:off x="5978014" y="4109884"/>
            <a:ext cx="2505095" cy="247347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02EB3-EA72-25D4-2D78-0E2EDEFCF2ED}"/>
              </a:ext>
            </a:extLst>
          </p:cNvPr>
          <p:cNvSpPr>
            <a:spLocks noGrp="1"/>
          </p:cNvSpPr>
          <p:nvPr>
            <p:ph type="title"/>
          </p:nvPr>
        </p:nvSpPr>
        <p:spPr>
          <a:xfrm>
            <a:off x="457200" y="274638"/>
            <a:ext cx="8229600" cy="679091"/>
          </a:xfrm>
        </p:spPr>
        <p:txBody>
          <a:bodyPr>
            <a:normAutofit/>
          </a:bodyPr>
          <a:lstStyle/>
          <a:p>
            <a:r>
              <a:rPr lang="en-US" b="1" dirty="0">
                <a:latin typeface="Times New Roman" panose="02020603050405020304" pitchFamily="18" charset="0"/>
                <a:cs typeface="Times New Roman" panose="02020603050405020304" pitchFamily="18" charset="0"/>
              </a:rPr>
              <a:t>CODING+OUTPUTS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FD9A250-1514-53C0-3166-7265E3013B7F}"/>
              </a:ext>
            </a:extLst>
          </p:cNvPr>
          <p:cNvSpPr txBox="1"/>
          <p:nvPr/>
        </p:nvSpPr>
        <p:spPr>
          <a:xfrm>
            <a:off x="457200" y="1162353"/>
            <a:ext cx="4572000" cy="369332"/>
          </a:xfrm>
          <a:prstGeom prst="rect">
            <a:avLst/>
          </a:prstGeom>
          <a:noFill/>
        </p:spPr>
        <p:txBody>
          <a:bodyPr wrap="square">
            <a:spAutoFit/>
          </a:bodyPr>
          <a:lstStyle/>
          <a:p>
            <a:pPr marL="285750" indent="-285750">
              <a:buFont typeface="Arial" panose="020B0604020202020204" pitchFamily="34" charset="0"/>
              <a:buChar char="•"/>
            </a:pPr>
            <a:r>
              <a:rPr lang="en-IN" sz="1800" b="1" dirty="0">
                <a:solidFill>
                  <a:srgbClr val="FFFF00"/>
                </a:solidFill>
                <a:latin typeface="Times New Roman" panose="02020603050405020304" pitchFamily="18" charset="0"/>
                <a:cs typeface="Times New Roman" panose="02020603050405020304" pitchFamily="18" charset="0"/>
              </a:rPr>
              <a:t>Jumbo_Calculator.py</a:t>
            </a:r>
            <a:endParaRPr lang="en-IN" dirty="0">
              <a:solidFill>
                <a:srgbClr val="FFFF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E3C8393-2CFA-8BAE-CFAE-9EB4867A1FA8}"/>
              </a:ext>
            </a:extLst>
          </p:cNvPr>
          <p:cNvPicPr>
            <a:picLocks noChangeAspect="1"/>
          </p:cNvPicPr>
          <p:nvPr/>
        </p:nvPicPr>
        <p:blipFill>
          <a:blip r:embed="rId2"/>
          <a:stretch>
            <a:fillRect/>
          </a:stretch>
        </p:blipFill>
        <p:spPr>
          <a:xfrm>
            <a:off x="229504" y="1632155"/>
            <a:ext cx="5001257" cy="4699819"/>
          </a:xfrm>
          <a:prstGeom prst="rect">
            <a:avLst/>
          </a:prstGeom>
        </p:spPr>
      </p:pic>
      <p:pic>
        <p:nvPicPr>
          <p:cNvPr id="8" name="Picture 7">
            <a:extLst>
              <a:ext uri="{FF2B5EF4-FFF2-40B4-BE49-F238E27FC236}">
                <a16:creationId xmlns:a16="http://schemas.microsoft.com/office/drawing/2014/main" id="{A72211FC-E431-8C18-F3F0-A000C6AC2BE7}"/>
              </a:ext>
            </a:extLst>
          </p:cNvPr>
          <p:cNvPicPr>
            <a:picLocks noChangeAspect="1"/>
          </p:cNvPicPr>
          <p:nvPr/>
        </p:nvPicPr>
        <p:blipFill>
          <a:blip r:embed="rId3"/>
          <a:stretch>
            <a:fillRect/>
          </a:stretch>
        </p:blipFill>
        <p:spPr>
          <a:xfrm>
            <a:off x="4773561" y="1632155"/>
            <a:ext cx="3913239" cy="4699819"/>
          </a:xfrm>
          <a:prstGeom prst="rect">
            <a:avLst/>
          </a:prstGeom>
        </p:spPr>
      </p:pic>
      <p:pic>
        <p:nvPicPr>
          <p:cNvPr id="10" name="Picture 9">
            <a:extLst>
              <a:ext uri="{FF2B5EF4-FFF2-40B4-BE49-F238E27FC236}">
                <a16:creationId xmlns:a16="http://schemas.microsoft.com/office/drawing/2014/main" id="{70B0E35A-787B-641B-A010-6A24E0705832}"/>
              </a:ext>
            </a:extLst>
          </p:cNvPr>
          <p:cNvPicPr>
            <a:picLocks noChangeAspect="1"/>
          </p:cNvPicPr>
          <p:nvPr/>
        </p:nvPicPr>
        <p:blipFill>
          <a:blip r:embed="rId4"/>
          <a:stretch>
            <a:fillRect/>
          </a:stretch>
        </p:blipFill>
        <p:spPr>
          <a:xfrm>
            <a:off x="6730180" y="1888816"/>
            <a:ext cx="1787951" cy="2565197"/>
          </a:xfrm>
          <a:prstGeom prst="rect">
            <a:avLst/>
          </a:prstGeom>
        </p:spPr>
      </p:pic>
      <p:pic>
        <p:nvPicPr>
          <p:cNvPr id="12" name="Picture 11">
            <a:extLst>
              <a:ext uri="{FF2B5EF4-FFF2-40B4-BE49-F238E27FC236}">
                <a16:creationId xmlns:a16="http://schemas.microsoft.com/office/drawing/2014/main" id="{E49078AA-69F7-70C0-AE42-4CF9B3AE86C2}"/>
              </a:ext>
            </a:extLst>
          </p:cNvPr>
          <p:cNvPicPr>
            <a:picLocks noChangeAspect="1"/>
          </p:cNvPicPr>
          <p:nvPr/>
        </p:nvPicPr>
        <p:blipFill>
          <a:blip r:embed="rId5"/>
          <a:stretch>
            <a:fillRect/>
          </a:stretch>
        </p:blipFill>
        <p:spPr>
          <a:xfrm>
            <a:off x="7030064" y="4385187"/>
            <a:ext cx="1656735" cy="2047257"/>
          </a:xfrm>
          <a:prstGeom prst="rect">
            <a:avLst/>
          </a:prstGeom>
        </p:spPr>
      </p:pic>
    </p:spTree>
    <p:extLst>
      <p:ext uri="{BB962C8B-B14F-4D97-AF65-F5344CB8AC3E}">
        <p14:creationId xmlns:p14="http://schemas.microsoft.com/office/powerpoint/2010/main" val="166733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B3E4826-F1CD-458E-9CCA-1135CEE93BD6}"/>
              </a:ext>
            </a:extLst>
          </p:cNvPr>
          <p:cNvPicPr>
            <a:picLocks noChangeAspect="1"/>
          </p:cNvPicPr>
          <p:nvPr/>
        </p:nvPicPr>
        <p:blipFill>
          <a:blip r:embed="rId2"/>
          <a:stretch>
            <a:fillRect/>
          </a:stretch>
        </p:blipFill>
        <p:spPr>
          <a:xfrm>
            <a:off x="265471" y="363794"/>
            <a:ext cx="5181600" cy="4447451"/>
          </a:xfrm>
          <a:prstGeom prst="rect">
            <a:avLst/>
          </a:prstGeom>
        </p:spPr>
      </p:pic>
      <p:pic>
        <p:nvPicPr>
          <p:cNvPr id="5" name="Picture 4">
            <a:extLst>
              <a:ext uri="{FF2B5EF4-FFF2-40B4-BE49-F238E27FC236}">
                <a16:creationId xmlns:a16="http://schemas.microsoft.com/office/drawing/2014/main" id="{774FA381-57F5-475D-774F-D0FF31B565C7}"/>
              </a:ext>
            </a:extLst>
          </p:cNvPr>
          <p:cNvPicPr>
            <a:picLocks noChangeAspect="1"/>
          </p:cNvPicPr>
          <p:nvPr/>
        </p:nvPicPr>
        <p:blipFill>
          <a:blip r:embed="rId3"/>
          <a:stretch>
            <a:fillRect/>
          </a:stretch>
        </p:blipFill>
        <p:spPr>
          <a:xfrm>
            <a:off x="265471" y="4503174"/>
            <a:ext cx="5073445" cy="1828800"/>
          </a:xfrm>
          <a:prstGeom prst="rect">
            <a:avLst/>
          </a:prstGeom>
        </p:spPr>
      </p:pic>
      <p:pic>
        <p:nvPicPr>
          <p:cNvPr id="7" name="Picture 6">
            <a:extLst>
              <a:ext uri="{FF2B5EF4-FFF2-40B4-BE49-F238E27FC236}">
                <a16:creationId xmlns:a16="http://schemas.microsoft.com/office/drawing/2014/main" id="{CC75D1EB-9EAD-6B7D-3EC6-7FB18E182BB6}"/>
              </a:ext>
            </a:extLst>
          </p:cNvPr>
          <p:cNvPicPr>
            <a:picLocks noChangeAspect="1"/>
          </p:cNvPicPr>
          <p:nvPr/>
        </p:nvPicPr>
        <p:blipFill>
          <a:blip r:embed="rId4"/>
          <a:stretch>
            <a:fillRect/>
          </a:stretch>
        </p:blipFill>
        <p:spPr>
          <a:xfrm>
            <a:off x="3551978" y="495212"/>
            <a:ext cx="2465364" cy="3447524"/>
          </a:xfrm>
          <a:prstGeom prst="rect">
            <a:avLst/>
          </a:prstGeom>
        </p:spPr>
      </p:pic>
      <p:pic>
        <p:nvPicPr>
          <p:cNvPr id="9" name="Picture 8">
            <a:extLst>
              <a:ext uri="{FF2B5EF4-FFF2-40B4-BE49-F238E27FC236}">
                <a16:creationId xmlns:a16="http://schemas.microsoft.com/office/drawing/2014/main" id="{BE0C7FFB-663C-0A77-C697-C71A2EA15AA6}"/>
              </a:ext>
            </a:extLst>
          </p:cNvPr>
          <p:cNvPicPr>
            <a:picLocks noChangeAspect="1"/>
          </p:cNvPicPr>
          <p:nvPr/>
        </p:nvPicPr>
        <p:blipFill>
          <a:blip r:embed="rId5"/>
          <a:stretch>
            <a:fillRect/>
          </a:stretch>
        </p:blipFill>
        <p:spPr>
          <a:xfrm>
            <a:off x="6116598" y="616316"/>
            <a:ext cx="2211324" cy="3326420"/>
          </a:xfrm>
          <a:prstGeom prst="rect">
            <a:avLst/>
          </a:prstGeom>
        </p:spPr>
      </p:pic>
      <p:pic>
        <p:nvPicPr>
          <p:cNvPr id="11" name="Picture 10">
            <a:extLst>
              <a:ext uri="{FF2B5EF4-FFF2-40B4-BE49-F238E27FC236}">
                <a16:creationId xmlns:a16="http://schemas.microsoft.com/office/drawing/2014/main" id="{320D8378-1526-232B-71C7-342B50EE18D7}"/>
              </a:ext>
            </a:extLst>
          </p:cNvPr>
          <p:cNvPicPr>
            <a:picLocks noChangeAspect="1"/>
          </p:cNvPicPr>
          <p:nvPr/>
        </p:nvPicPr>
        <p:blipFill>
          <a:blip r:embed="rId6"/>
          <a:srcRect l="56020" t="7745" r="4491" b="9368"/>
          <a:stretch>
            <a:fillRect/>
          </a:stretch>
        </p:blipFill>
        <p:spPr>
          <a:xfrm>
            <a:off x="5304713" y="4067439"/>
            <a:ext cx="1837860" cy="2264535"/>
          </a:xfrm>
          <a:prstGeom prst="rect">
            <a:avLst/>
          </a:prstGeom>
        </p:spPr>
      </p:pic>
      <p:pic>
        <p:nvPicPr>
          <p:cNvPr id="13" name="Picture 12">
            <a:extLst>
              <a:ext uri="{FF2B5EF4-FFF2-40B4-BE49-F238E27FC236}">
                <a16:creationId xmlns:a16="http://schemas.microsoft.com/office/drawing/2014/main" id="{7809A603-D681-60F2-27BE-4F101374ABD8}"/>
              </a:ext>
            </a:extLst>
          </p:cNvPr>
          <p:cNvPicPr>
            <a:picLocks noChangeAspect="1"/>
          </p:cNvPicPr>
          <p:nvPr/>
        </p:nvPicPr>
        <p:blipFill>
          <a:blip r:embed="rId7"/>
          <a:srcRect l="56364" t="5920" r="3801" b="7290"/>
          <a:stretch>
            <a:fillRect/>
          </a:stretch>
        </p:blipFill>
        <p:spPr>
          <a:xfrm>
            <a:off x="7142574" y="4067439"/>
            <a:ext cx="1431156" cy="2264536"/>
          </a:xfrm>
          <a:prstGeom prst="rect">
            <a:avLst/>
          </a:prstGeom>
        </p:spPr>
      </p:pic>
    </p:spTree>
    <p:extLst>
      <p:ext uri="{BB962C8B-B14F-4D97-AF65-F5344CB8AC3E}">
        <p14:creationId xmlns:p14="http://schemas.microsoft.com/office/powerpoint/2010/main" val="1596588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55BA1-ABC8-7783-ED8E-141B916D44C9}"/>
              </a:ext>
            </a:extLst>
          </p:cNvPr>
          <p:cNvSpPr>
            <a:spLocks noGrp="1"/>
          </p:cNvSpPr>
          <p:nvPr>
            <p:ph type="title"/>
          </p:nvPr>
        </p:nvSpPr>
        <p:spPr>
          <a:xfrm>
            <a:off x="457200" y="274638"/>
            <a:ext cx="8229600" cy="688923"/>
          </a:xfrm>
        </p:spPr>
        <p:txBody>
          <a:bodyPr>
            <a:normAutofit/>
          </a:bodyPr>
          <a:lstStyle/>
          <a:p>
            <a:r>
              <a:rPr lang="en-US" b="1" dirty="0">
                <a:latin typeface="Times New Roman" panose="02020603050405020304" pitchFamily="18" charset="0"/>
                <a:cs typeface="Times New Roman" panose="02020603050405020304" pitchFamily="18" charset="0"/>
              </a:rPr>
              <a:t>CODING+OUTPUTS</a:t>
            </a:r>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8CBBBFA-B309-EB47-4E25-C3A9AF31C074}"/>
              </a:ext>
            </a:extLst>
          </p:cNvPr>
          <p:cNvSpPr txBox="1"/>
          <p:nvPr/>
        </p:nvSpPr>
        <p:spPr>
          <a:xfrm>
            <a:off x="299884" y="963561"/>
            <a:ext cx="4572000" cy="369332"/>
          </a:xfrm>
          <a:prstGeom prst="rect">
            <a:avLst/>
          </a:prstGeom>
          <a:noFill/>
        </p:spPr>
        <p:txBody>
          <a:bodyPr wrap="square">
            <a:spAutoFit/>
          </a:bodyPr>
          <a:lstStyle/>
          <a:p>
            <a:pPr marL="285750" indent="-285750">
              <a:buFont typeface="Wingdings" panose="05000000000000000000" pitchFamily="2" charset="2"/>
              <a:buChar char="§"/>
            </a:pPr>
            <a:r>
              <a:rPr lang="en-IN" sz="1800" b="1" dirty="0">
                <a:solidFill>
                  <a:srgbClr val="FFFF00"/>
                </a:solidFill>
                <a:latin typeface="Times New Roman" panose="02020603050405020304" pitchFamily="18" charset="0"/>
                <a:cs typeface="Times New Roman" panose="02020603050405020304" pitchFamily="18" charset="0"/>
              </a:rPr>
              <a:t>Jumbo_Advanced_Calculator.py</a:t>
            </a:r>
            <a:endParaRPr lang="en-IN" dirty="0">
              <a:solidFill>
                <a:srgbClr val="FFFF00"/>
              </a:solidFill>
            </a:endParaRPr>
          </a:p>
        </p:txBody>
      </p:sp>
      <p:pic>
        <p:nvPicPr>
          <p:cNvPr id="6" name="Picture 5">
            <a:extLst>
              <a:ext uri="{FF2B5EF4-FFF2-40B4-BE49-F238E27FC236}">
                <a16:creationId xmlns:a16="http://schemas.microsoft.com/office/drawing/2014/main" id="{1949D216-FC9E-0538-E9D6-E2CD5E853DAD}"/>
              </a:ext>
            </a:extLst>
          </p:cNvPr>
          <p:cNvPicPr>
            <a:picLocks noChangeAspect="1"/>
          </p:cNvPicPr>
          <p:nvPr/>
        </p:nvPicPr>
        <p:blipFill>
          <a:blip r:embed="rId2"/>
          <a:stretch>
            <a:fillRect/>
          </a:stretch>
        </p:blipFill>
        <p:spPr>
          <a:xfrm>
            <a:off x="373626" y="1448110"/>
            <a:ext cx="4572000" cy="4705363"/>
          </a:xfrm>
          <a:prstGeom prst="rect">
            <a:avLst/>
          </a:prstGeom>
        </p:spPr>
      </p:pic>
      <p:pic>
        <p:nvPicPr>
          <p:cNvPr id="8" name="Picture 7">
            <a:extLst>
              <a:ext uri="{FF2B5EF4-FFF2-40B4-BE49-F238E27FC236}">
                <a16:creationId xmlns:a16="http://schemas.microsoft.com/office/drawing/2014/main" id="{AADC88CA-A1BF-6290-AFA6-62A1755C36DC}"/>
              </a:ext>
            </a:extLst>
          </p:cNvPr>
          <p:cNvPicPr>
            <a:picLocks noChangeAspect="1"/>
          </p:cNvPicPr>
          <p:nvPr/>
        </p:nvPicPr>
        <p:blipFill>
          <a:blip r:embed="rId3"/>
          <a:stretch>
            <a:fillRect/>
          </a:stretch>
        </p:blipFill>
        <p:spPr>
          <a:xfrm>
            <a:off x="3890189" y="1332894"/>
            <a:ext cx="3767609" cy="4935796"/>
          </a:xfrm>
          <a:prstGeom prst="rect">
            <a:avLst/>
          </a:prstGeom>
        </p:spPr>
      </p:pic>
      <p:pic>
        <p:nvPicPr>
          <p:cNvPr id="11" name="Picture 10">
            <a:extLst>
              <a:ext uri="{FF2B5EF4-FFF2-40B4-BE49-F238E27FC236}">
                <a16:creationId xmlns:a16="http://schemas.microsoft.com/office/drawing/2014/main" id="{FA103C3D-2961-595C-29EF-2BEAA0A95984}"/>
              </a:ext>
            </a:extLst>
          </p:cNvPr>
          <p:cNvPicPr>
            <a:picLocks noChangeAspect="1"/>
          </p:cNvPicPr>
          <p:nvPr/>
        </p:nvPicPr>
        <p:blipFill>
          <a:blip r:embed="rId4"/>
          <a:stretch>
            <a:fillRect/>
          </a:stretch>
        </p:blipFill>
        <p:spPr>
          <a:xfrm>
            <a:off x="5486401" y="963561"/>
            <a:ext cx="3357716" cy="3400716"/>
          </a:xfrm>
          <a:prstGeom prst="rect">
            <a:avLst/>
          </a:prstGeom>
        </p:spPr>
      </p:pic>
      <p:pic>
        <p:nvPicPr>
          <p:cNvPr id="13" name="Picture 12">
            <a:extLst>
              <a:ext uri="{FF2B5EF4-FFF2-40B4-BE49-F238E27FC236}">
                <a16:creationId xmlns:a16="http://schemas.microsoft.com/office/drawing/2014/main" id="{759ED087-CF6B-7783-19ED-4745558F8892}"/>
              </a:ext>
            </a:extLst>
          </p:cNvPr>
          <p:cNvPicPr>
            <a:picLocks noChangeAspect="1"/>
          </p:cNvPicPr>
          <p:nvPr/>
        </p:nvPicPr>
        <p:blipFill>
          <a:blip r:embed="rId5"/>
          <a:stretch>
            <a:fillRect/>
          </a:stretch>
        </p:blipFill>
        <p:spPr>
          <a:xfrm>
            <a:off x="5773993" y="4045303"/>
            <a:ext cx="3070124" cy="2015793"/>
          </a:xfrm>
          <a:prstGeom prst="rect">
            <a:avLst/>
          </a:prstGeom>
        </p:spPr>
      </p:pic>
    </p:spTree>
    <p:extLst>
      <p:ext uri="{BB962C8B-B14F-4D97-AF65-F5344CB8AC3E}">
        <p14:creationId xmlns:p14="http://schemas.microsoft.com/office/powerpoint/2010/main" val="373415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45BB1C-E906-ED8D-3821-DFF0C5EB508F}"/>
              </a:ext>
            </a:extLst>
          </p:cNvPr>
          <p:cNvPicPr>
            <a:picLocks noChangeAspect="1"/>
          </p:cNvPicPr>
          <p:nvPr/>
        </p:nvPicPr>
        <p:blipFill>
          <a:blip r:embed="rId2"/>
          <a:stretch>
            <a:fillRect/>
          </a:stretch>
        </p:blipFill>
        <p:spPr>
          <a:xfrm>
            <a:off x="98324" y="206478"/>
            <a:ext cx="6105832" cy="6440128"/>
          </a:xfrm>
          <a:prstGeom prst="rect">
            <a:avLst/>
          </a:prstGeom>
        </p:spPr>
      </p:pic>
      <p:pic>
        <p:nvPicPr>
          <p:cNvPr id="6" name="Picture 5">
            <a:extLst>
              <a:ext uri="{FF2B5EF4-FFF2-40B4-BE49-F238E27FC236}">
                <a16:creationId xmlns:a16="http://schemas.microsoft.com/office/drawing/2014/main" id="{B809870B-BFB1-E5A9-9B28-5161885ED0D1}"/>
              </a:ext>
            </a:extLst>
          </p:cNvPr>
          <p:cNvPicPr>
            <a:picLocks noChangeAspect="1"/>
          </p:cNvPicPr>
          <p:nvPr/>
        </p:nvPicPr>
        <p:blipFill>
          <a:blip r:embed="rId3"/>
          <a:stretch>
            <a:fillRect/>
          </a:stretch>
        </p:blipFill>
        <p:spPr>
          <a:xfrm>
            <a:off x="3224981" y="612858"/>
            <a:ext cx="5309420" cy="2661284"/>
          </a:xfrm>
          <a:prstGeom prst="rect">
            <a:avLst/>
          </a:prstGeom>
        </p:spPr>
      </p:pic>
      <p:pic>
        <p:nvPicPr>
          <p:cNvPr id="8" name="Picture 7">
            <a:extLst>
              <a:ext uri="{FF2B5EF4-FFF2-40B4-BE49-F238E27FC236}">
                <a16:creationId xmlns:a16="http://schemas.microsoft.com/office/drawing/2014/main" id="{50B85CE4-F9C9-CE4D-EE45-CD5A098DEE0C}"/>
              </a:ext>
            </a:extLst>
          </p:cNvPr>
          <p:cNvPicPr>
            <a:picLocks noChangeAspect="1"/>
          </p:cNvPicPr>
          <p:nvPr/>
        </p:nvPicPr>
        <p:blipFill>
          <a:blip r:embed="rId4"/>
          <a:stretch>
            <a:fillRect/>
          </a:stretch>
        </p:blipFill>
        <p:spPr>
          <a:xfrm>
            <a:off x="3401962" y="3499440"/>
            <a:ext cx="5132439" cy="2419579"/>
          </a:xfrm>
          <a:prstGeom prst="rect">
            <a:avLst/>
          </a:prstGeom>
        </p:spPr>
      </p:pic>
    </p:spTree>
    <p:extLst>
      <p:ext uri="{BB962C8B-B14F-4D97-AF65-F5344CB8AC3E}">
        <p14:creationId xmlns:p14="http://schemas.microsoft.com/office/powerpoint/2010/main" val="3872640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E62AA16-FD7B-9072-351D-8B7828F66215}"/>
              </a:ext>
            </a:extLst>
          </p:cNvPr>
          <p:cNvPicPr>
            <a:picLocks noChangeAspect="1"/>
          </p:cNvPicPr>
          <p:nvPr/>
        </p:nvPicPr>
        <p:blipFill>
          <a:blip r:embed="rId2"/>
          <a:stretch>
            <a:fillRect/>
          </a:stretch>
        </p:blipFill>
        <p:spPr>
          <a:xfrm>
            <a:off x="393291" y="163824"/>
            <a:ext cx="3628103" cy="3199016"/>
          </a:xfrm>
          <a:prstGeom prst="rect">
            <a:avLst/>
          </a:prstGeom>
        </p:spPr>
      </p:pic>
      <p:pic>
        <p:nvPicPr>
          <p:cNvPr id="10" name="Picture 9">
            <a:extLst>
              <a:ext uri="{FF2B5EF4-FFF2-40B4-BE49-F238E27FC236}">
                <a16:creationId xmlns:a16="http://schemas.microsoft.com/office/drawing/2014/main" id="{67CCC18A-8DEE-0AF5-F631-7062DD8643A9}"/>
              </a:ext>
            </a:extLst>
          </p:cNvPr>
          <p:cNvPicPr>
            <a:picLocks noChangeAspect="1"/>
          </p:cNvPicPr>
          <p:nvPr/>
        </p:nvPicPr>
        <p:blipFill>
          <a:blip r:embed="rId3"/>
          <a:stretch>
            <a:fillRect/>
          </a:stretch>
        </p:blipFill>
        <p:spPr>
          <a:xfrm>
            <a:off x="4100052" y="403123"/>
            <a:ext cx="4650658" cy="3025877"/>
          </a:xfrm>
          <a:prstGeom prst="rect">
            <a:avLst/>
          </a:prstGeom>
        </p:spPr>
      </p:pic>
      <p:pic>
        <p:nvPicPr>
          <p:cNvPr id="12" name="Picture 11">
            <a:extLst>
              <a:ext uri="{FF2B5EF4-FFF2-40B4-BE49-F238E27FC236}">
                <a16:creationId xmlns:a16="http://schemas.microsoft.com/office/drawing/2014/main" id="{DF8523BC-C29C-0822-A597-21CBB657F6F4}"/>
              </a:ext>
            </a:extLst>
          </p:cNvPr>
          <p:cNvPicPr>
            <a:picLocks noChangeAspect="1"/>
          </p:cNvPicPr>
          <p:nvPr/>
        </p:nvPicPr>
        <p:blipFill>
          <a:blip r:embed="rId4"/>
          <a:stretch>
            <a:fillRect/>
          </a:stretch>
        </p:blipFill>
        <p:spPr>
          <a:xfrm>
            <a:off x="355594" y="2760407"/>
            <a:ext cx="3862225" cy="2529348"/>
          </a:xfrm>
          <a:prstGeom prst="rect">
            <a:avLst/>
          </a:prstGeom>
        </p:spPr>
      </p:pic>
      <p:pic>
        <p:nvPicPr>
          <p:cNvPr id="14" name="Picture 13">
            <a:extLst>
              <a:ext uri="{FF2B5EF4-FFF2-40B4-BE49-F238E27FC236}">
                <a16:creationId xmlns:a16="http://schemas.microsoft.com/office/drawing/2014/main" id="{4A2AE3A1-211B-A96F-AA95-A3F2ABDC14B8}"/>
              </a:ext>
            </a:extLst>
          </p:cNvPr>
          <p:cNvPicPr>
            <a:picLocks noChangeAspect="1"/>
          </p:cNvPicPr>
          <p:nvPr/>
        </p:nvPicPr>
        <p:blipFill>
          <a:blip r:embed="rId5"/>
          <a:stretch>
            <a:fillRect/>
          </a:stretch>
        </p:blipFill>
        <p:spPr>
          <a:xfrm>
            <a:off x="4384968" y="2996381"/>
            <a:ext cx="4118522" cy="2293374"/>
          </a:xfrm>
          <a:prstGeom prst="rect">
            <a:avLst/>
          </a:prstGeom>
        </p:spPr>
      </p:pic>
      <p:pic>
        <p:nvPicPr>
          <p:cNvPr id="16" name="Picture 15">
            <a:extLst>
              <a:ext uri="{FF2B5EF4-FFF2-40B4-BE49-F238E27FC236}">
                <a16:creationId xmlns:a16="http://schemas.microsoft.com/office/drawing/2014/main" id="{BFF167A5-0BA9-AA84-7FD2-3FB51ABBE04E}"/>
              </a:ext>
            </a:extLst>
          </p:cNvPr>
          <p:cNvPicPr>
            <a:picLocks noChangeAspect="1"/>
          </p:cNvPicPr>
          <p:nvPr/>
        </p:nvPicPr>
        <p:blipFill>
          <a:blip r:embed="rId6"/>
          <a:stretch>
            <a:fillRect/>
          </a:stretch>
        </p:blipFill>
        <p:spPr>
          <a:xfrm>
            <a:off x="530942" y="4901949"/>
            <a:ext cx="3020422" cy="1636349"/>
          </a:xfrm>
          <a:prstGeom prst="rect">
            <a:avLst/>
          </a:prstGeom>
        </p:spPr>
      </p:pic>
      <p:pic>
        <p:nvPicPr>
          <p:cNvPr id="18" name="Picture 17">
            <a:extLst>
              <a:ext uri="{FF2B5EF4-FFF2-40B4-BE49-F238E27FC236}">
                <a16:creationId xmlns:a16="http://schemas.microsoft.com/office/drawing/2014/main" id="{A94EA881-1253-9485-28AF-4AFF938B02D8}"/>
              </a:ext>
            </a:extLst>
          </p:cNvPr>
          <p:cNvPicPr>
            <a:picLocks noChangeAspect="1"/>
          </p:cNvPicPr>
          <p:nvPr/>
        </p:nvPicPr>
        <p:blipFill>
          <a:blip r:embed="rId7"/>
          <a:stretch>
            <a:fillRect/>
          </a:stretch>
        </p:blipFill>
        <p:spPr>
          <a:xfrm>
            <a:off x="3896314" y="4824515"/>
            <a:ext cx="4650658" cy="1791216"/>
          </a:xfrm>
          <a:prstGeom prst="rect">
            <a:avLst/>
          </a:prstGeom>
        </p:spPr>
      </p:pic>
    </p:spTree>
    <p:extLst>
      <p:ext uri="{BB962C8B-B14F-4D97-AF65-F5344CB8AC3E}">
        <p14:creationId xmlns:p14="http://schemas.microsoft.com/office/powerpoint/2010/main" val="4217372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25CD-2A4F-7A33-A5A2-855DEDD2EC66}"/>
              </a:ext>
            </a:extLst>
          </p:cNvPr>
          <p:cNvSpPr>
            <a:spLocks noGrp="1"/>
          </p:cNvSpPr>
          <p:nvPr>
            <p:ph type="title"/>
          </p:nvPr>
        </p:nvSpPr>
        <p:spPr>
          <a:xfrm>
            <a:off x="457200" y="274638"/>
            <a:ext cx="8229600" cy="718420"/>
          </a:xfrm>
        </p:spPr>
        <p:txBody>
          <a:bodyPr>
            <a:normAutofit/>
          </a:bodyPr>
          <a:lstStyle/>
          <a:p>
            <a:r>
              <a:rPr lang="en-US" b="1" dirty="0">
                <a:latin typeface="Times New Roman" panose="02020603050405020304" pitchFamily="18" charset="0"/>
                <a:cs typeface="Times New Roman" panose="02020603050405020304" pitchFamily="18" charset="0"/>
              </a:rPr>
              <a:t>CODING+OUTPUT</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4AF9773-7C4D-04EA-7106-43C0F80806D4}"/>
              </a:ext>
            </a:extLst>
          </p:cNvPr>
          <p:cNvPicPr>
            <a:picLocks noChangeAspect="1"/>
          </p:cNvPicPr>
          <p:nvPr/>
        </p:nvPicPr>
        <p:blipFill>
          <a:blip r:embed="rId2"/>
          <a:stretch>
            <a:fillRect/>
          </a:stretch>
        </p:blipFill>
        <p:spPr>
          <a:xfrm>
            <a:off x="191032" y="1374722"/>
            <a:ext cx="4498954" cy="5208640"/>
          </a:xfrm>
          <a:prstGeom prst="rect">
            <a:avLst/>
          </a:prstGeom>
        </p:spPr>
      </p:pic>
      <p:pic>
        <p:nvPicPr>
          <p:cNvPr id="6" name="Picture 5">
            <a:extLst>
              <a:ext uri="{FF2B5EF4-FFF2-40B4-BE49-F238E27FC236}">
                <a16:creationId xmlns:a16="http://schemas.microsoft.com/office/drawing/2014/main" id="{D5211B6D-7EEF-0A92-06C6-464DC7121CBA}"/>
              </a:ext>
            </a:extLst>
          </p:cNvPr>
          <p:cNvPicPr>
            <a:picLocks noChangeAspect="1"/>
          </p:cNvPicPr>
          <p:nvPr/>
        </p:nvPicPr>
        <p:blipFill>
          <a:blip r:embed="rId3"/>
          <a:stretch>
            <a:fillRect/>
          </a:stretch>
        </p:blipFill>
        <p:spPr>
          <a:xfrm>
            <a:off x="4257368" y="1142999"/>
            <a:ext cx="4355689" cy="5326627"/>
          </a:xfrm>
          <a:prstGeom prst="rect">
            <a:avLst/>
          </a:prstGeom>
        </p:spPr>
      </p:pic>
      <p:sp>
        <p:nvSpPr>
          <p:cNvPr id="8" name="TextBox 7">
            <a:extLst>
              <a:ext uri="{FF2B5EF4-FFF2-40B4-BE49-F238E27FC236}">
                <a16:creationId xmlns:a16="http://schemas.microsoft.com/office/drawing/2014/main" id="{83BD0AF4-8D3A-A502-BF35-4E03E90E7EE5}"/>
              </a:ext>
            </a:extLst>
          </p:cNvPr>
          <p:cNvSpPr txBox="1"/>
          <p:nvPr/>
        </p:nvSpPr>
        <p:spPr>
          <a:xfrm>
            <a:off x="191032" y="993058"/>
            <a:ext cx="4572000" cy="369332"/>
          </a:xfrm>
          <a:prstGeom prst="rect">
            <a:avLst/>
          </a:prstGeom>
          <a:noFill/>
        </p:spPr>
        <p:txBody>
          <a:bodyPr wrap="square">
            <a:spAutoFit/>
          </a:bodyPr>
          <a:lstStyle/>
          <a:p>
            <a:pPr marL="285750" indent="-285750">
              <a:buFont typeface="Wingdings" panose="05000000000000000000" pitchFamily="2" charset="2"/>
              <a:buChar char="§"/>
            </a:pPr>
            <a:r>
              <a:rPr lang="en-IN" sz="1800" b="1" dirty="0">
                <a:solidFill>
                  <a:srgbClr val="FFFF00"/>
                </a:solidFill>
                <a:latin typeface="Times New Roman" panose="02020603050405020304" pitchFamily="18" charset="0"/>
                <a:cs typeface="Times New Roman" panose="02020603050405020304" pitchFamily="18" charset="0"/>
              </a:rPr>
              <a:t>Jumbo_propro_Calculator.py</a:t>
            </a:r>
            <a:endParaRPr lang="en-IN" dirty="0">
              <a:solidFill>
                <a:srgbClr val="FFFF00"/>
              </a:solidFill>
            </a:endParaRPr>
          </a:p>
        </p:txBody>
      </p:sp>
      <p:pic>
        <p:nvPicPr>
          <p:cNvPr id="10" name="Picture 9">
            <a:extLst>
              <a:ext uri="{FF2B5EF4-FFF2-40B4-BE49-F238E27FC236}">
                <a16:creationId xmlns:a16="http://schemas.microsoft.com/office/drawing/2014/main" id="{7560E545-0667-8D20-01CC-622F56731DE8}"/>
              </a:ext>
            </a:extLst>
          </p:cNvPr>
          <p:cNvPicPr>
            <a:picLocks noChangeAspect="1"/>
          </p:cNvPicPr>
          <p:nvPr/>
        </p:nvPicPr>
        <p:blipFill>
          <a:blip r:embed="rId4"/>
          <a:stretch>
            <a:fillRect/>
          </a:stretch>
        </p:blipFill>
        <p:spPr>
          <a:xfrm>
            <a:off x="2005781" y="3165988"/>
            <a:ext cx="2251587" cy="2045110"/>
          </a:xfrm>
          <a:prstGeom prst="rect">
            <a:avLst/>
          </a:prstGeom>
        </p:spPr>
      </p:pic>
      <p:pic>
        <p:nvPicPr>
          <p:cNvPr id="14" name="Picture 13">
            <a:extLst>
              <a:ext uri="{FF2B5EF4-FFF2-40B4-BE49-F238E27FC236}">
                <a16:creationId xmlns:a16="http://schemas.microsoft.com/office/drawing/2014/main" id="{C2E63DBF-FD68-D380-A689-F253ECEC1A7E}"/>
              </a:ext>
            </a:extLst>
          </p:cNvPr>
          <p:cNvPicPr>
            <a:picLocks noChangeAspect="1"/>
          </p:cNvPicPr>
          <p:nvPr/>
        </p:nvPicPr>
        <p:blipFill>
          <a:blip r:embed="rId5"/>
          <a:stretch>
            <a:fillRect/>
          </a:stretch>
        </p:blipFill>
        <p:spPr>
          <a:xfrm>
            <a:off x="5895136" y="3608439"/>
            <a:ext cx="3057832" cy="2723535"/>
          </a:xfrm>
          <a:prstGeom prst="rect">
            <a:avLst/>
          </a:prstGeom>
        </p:spPr>
      </p:pic>
    </p:spTree>
    <p:extLst>
      <p:ext uri="{BB962C8B-B14F-4D97-AF65-F5344CB8AC3E}">
        <p14:creationId xmlns:p14="http://schemas.microsoft.com/office/powerpoint/2010/main" val="3684079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30F7ED-DAE8-5817-CF84-2C9CCF2315EB}"/>
              </a:ext>
            </a:extLst>
          </p:cNvPr>
          <p:cNvPicPr>
            <a:picLocks noChangeAspect="1"/>
          </p:cNvPicPr>
          <p:nvPr/>
        </p:nvPicPr>
        <p:blipFill>
          <a:blip r:embed="rId2"/>
          <a:stretch>
            <a:fillRect/>
          </a:stretch>
        </p:blipFill>
        <p:spPr>
          <a:xfrm>
            <a:off x="396730" y="128055"/>
            <a:ext cx="4551626" cy="5928874"/>
          </a:xfrm>
          <a:prstGeom prst="rect">
            <a:avLst/>
          </a:prstGeom>
        </p:spPr>
      </p:pic>
      <p:pic>
        <p:nvPicPr>
          <p:cNvPr id="5" name="Picture 4">
            <a:extLst>
              <a:ext uri="{FF2B5EF4-FFF2-40B4-BE49-F238E27FC236}">
                <a16:creationId xmlns:a16="http://schemas.microsoft.com/office/drawing/2014/main" id="{57DBAFD3-EC14-8C22-A289-BD42E8D5203E}"/>
              </a:ext>
            </a:extLst>
          </p:cNvPr>
          <p:cNvPicPr>
            <a:picLocks noChangeAspect="1"/>
          </p:cNvPicPr>
          <p:nvPr/>
        </p:nvPicPr>
        <p:blipFill>
          <a:blip r:embed="rId3"/>
          <a:stretch>
            <a:fillRect/>
          </a:stretch>
        </p:blipFill>
        <p:spPr>
          <a:xfrm>
            <a:off x="3205315" y="801071"/>
            <a:ext cx="4110121" cy="5592366"/>
          </a:xfrm>
          <a:prstGeom prst="rect">
            <a:avLst/>
          </a:prstGeom>
        </p:spPr>
      </p:pic>
      <p:pic>
        <p:nvPicPr>
          <p:cNvPr id="7" name="Picture 6">
            <a:extLst>
              <a:ext uri="{FF2B5EF4-FFF2-40B4-BE49-F238E27FC236}">
                <a16:creationId xmlns:a16="http://schemas.microsoft.com/office/drawing/2014/main" id="{D57906D9-2C82-C2A8-84F8-F16E2130565D}"/>
              </a:ext>
            </a:extLst>
          </p:cNvPr>
          <p:cNvPicPr>
            <a:picLocks noChangeAspect="1"/>
          </p:cNvPicPr>
          <p:nvPr/>
        </p:nvPicPr>
        <p:blipFill>
          <a:blip r:embed="rId4"/>
          <a:stretch>
            <a:fillRect/>
          </a:stretch>
        </p:blipFill>
        <p:spPr>
          <a:xfrm>
            <a:off x="5633884" y="1278195"/>
            <a:ext cx="3352800" cy="4975122"/>
          </a:xfrm>
          <a:prstGeom prst="rect">
            <a:avLst/>
          </a:prstGeom>
        </p:spPr>
      </p:pic>
    </p:spTree>
    <p:extLst>
      <p:ext uri="{BB962C8B-B14F-4D97-AF65-F5344CB8AC3E}">
        <p14:creationId xmlns:p14="http://schemas.microsoft.com/office/powerpoint/2010/main" val="16086524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3072633-B593-81B6-8A17-3114A3230BF5}"/>
              </a:ext>
            </a:extLst>
          </p:cNvPr>
          <p:cNvPicPr>
            <a:picLocks noChangeAspect="1"/>
          </p:cNvPicPr>
          <p:nvPr/>
        </p:nvPicPr>
        <p:blipFill>
          <a:blip r:embed="rId2"/>
          <a:stretch>
            <a:fillRect/>
          </a:stretch>
        </p:blipFill>
        <p:spPr>
          <a:xfrm>
            <a:off x="378834" y="424175"/>
            <a:ext cx="2603369" cy="3087329"/>
          </a:xfrm>
          <a:prstGeom prst="rect">
            <a:avLst/>
          </a:prstGeom>
        </p:spPr>
      </p:pic>
      <p:pic>
        <p:nvPicPr>
          <p:cNvPr id="6" name="Picture 5">
            <a:extLst>
              <a:ext uri="{FF2B5EF4-FFF2-40B4-BE49-F238E27FC236}">
                <a16:creationId xmlns:a16="http://schemas.microsoft.com/office/drawing/2014/main" id="{6FD7E01F-855D-BF89-6A76-CA33E307DE8F}"/>
              </a:ext>
            </a:extLst>
          </p:cNvPr>
          <p:cNvPicPr>
            <a:picLocks noChangeAspect="1"/>
          </p:cNvPicPr>
          <p:nvPr/>
        </p:nvPicPr>
        <p:blipFill>
          <a:blip r:embed="rId3"/>
          <a:stretch>
            <a:fillRect/>
          </a:stretch>
        </p:blipFill>
        <p:spPr>
          <a:xfrm>
            <a:off x="3070693" y="424175"/>
            <a:ext cx="5896325" cy="3004825"/>
          </a:xfrm>
          <a:prstGeom prst="rect">
            <a:avLst/>
          </a:prstGeom>
        </p:spPr>
      </p:pic>
      <p:pic>
        <p:nvPicPr>
          <p:cNvPr id="8" name="Picture 7">
            <a:extLst>
              <a:ext uri="{FF2B5EF4-FFF2-40B4-BE49-F238E27FC236}">
                <a16:creationId xmlns:a16="http://schemas.microsoft.com/office/drawing/2014/main" id="{E75FE081-C573-50E3-C35A-6EB5E00DDDB9}"/>
              </a:ext>
            </a:extLst>
          </p:cNvPr>
          <p:cNvPicPr>
            <a:picLocks noChangeAspect="1"/>
          </p:cNvPicPr>
          <p:nvPr/>
        </p:nvPicPr>
        <p:blipFill>
          <a:blip r:embed="rId4"/>
          <a:srcRect l="23453"/>
          <a:stretch>
            <a:fillRect/>
          </a:stretch>
        </p:blipFill>
        <p:spPr>
          <a:xfrm>
            <a:off x="378834" y="3615814"/>
            <a:ext cx="2906450" cy="2372032"/>
          </a:xfrm>
          <a:prstGeom prst="rect">
            <a:avLst/>
          </a:prstGeom>
        </p:spPr>
      </p:pic>
      <p:pic>
        <p:nvPicPr>
          <p:cNvPr id="10" name="Picture 9">
            <a:extLst>
              <a:ext uri="{FF2B5EF4-FFF2-40B4-BE49-F238E27FC236}">
                <a16:creationId xmlns:a16="http://schemas.microsoft.com/office/drawing/2014/main" id="{FDEB0B35-6015-14CA-8E30-F9F64CD20379}"/>
              </a:ext>
            </a:extLst>
          </p:cNvPr>
          <p:cNvPicPr>
            <a:picLocks noChangeAspect="1"/>
          </p:cNvPicPr>
          <p:nvPr/>
        </p:nvPicPr>
        <p:blipFill>
          <a:blip r:embed="rId5"/>
          <a:stretch>
            <a:fillRect/>
          </a:stretch>
        </p:blipFill>
        <p:spPr>
          <a:xfrm>
            <a:off x="3285283" y="3429000"/>
            <a:ext cx="5479884" cy="3237271"/>
          </a:xfrm>
          <a:prstGeom prst="rect">
            <a:avLst/>
          </a:prstGeom>
        </p:spPr>
      </p:pic>
    </p:spTree>
    <p:extLst>
      <p:ext uri="{BB962C8B-B14F-4D97-AF65-F5344CB8AC3E}">
        <p14:creationId xmlns:p14="http://schemas.microsoft.com/office/powerpoint/2010/main" val="337454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1246-E56F-1EAC-5423-A2BD772AFE9B}"/>
              </a:ext>
            </a:extLst>
          </p:cNvPr>
          <p:cNvSpPr>
            <a:spLocks noGrp="1"/>
          </p:cNvSpPr>
          <p:nvPr>
            <p:ph type="title"/>
          </p:nvPr>
        </p:nvSpPr>
        <p:spPr>
          <a:xfrm>
            <a:off x="457200" y="274638"/>
            <a:ext cx="8229600" cy="659427"/>
          </a:xfrm>
        </p:spPr>
        <p:txBody>
          <a:bodyPr>
            <a:normAutofit/>
          </a:bodyPr>
          <a:lstStyle/>
          <a:p>
            <a:r>
              <a:rPr lang="en-US" b="1" dirty="0">
                <a:latin typeface="Times New Roman" panose="02020603050405020304" pitchFamily="18" charset="0"/>
                <a:cs typeface="Times New Roman" panose="02020603050405020304" pitchFamily="18" charset="0"/>
              </a:rPr>
              <a:t>MORE OUTPUTS</a:t>
            </a:r>
            <a:endParaRPr lang="en-IN"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DD938DA-0EDF-C0B7-2884-33C86198EC93}"/>
              </a:ext>
            </a:extLst>
          </p:cNvPr>
          <p:cNvPicPr>
            <a:picLocks noChangeAspect="1"/>
          </p:cNvPicPr>
          <p:nvPr/>
        </p:nvPicPr>
        <p:blipFill>
          <a:blip r:embed="rId2"/>
          <a:stretch>
            <a:fillRect/>
          </a:stretch>
        </p:blipFill>
        <p:spPr>
          <a:xfrm>
            <a:off x="227079" y="934065"/>
            <a:ext cx="2322915" cy="2684207"/>
          </a:xfrm>
          <a:prstGeom prst="rect">
            <a:avLst/>
          </a:prstGeom>
        </p:spPr>
      </p:pic>
      <p:pic>
        <p:nvPicPr>
          <p:cNvPr id="6" name="Picture 5">
            <a:extLst>
              <a:ext uri="{FF2B5EF4-FFF2-40B4-BE49-F238E27FC236}">
                <a16:creationId xmlns:a16="http://schemas.microsoft.com/office/drawing/2014/main" id="{55D1B058-263D-EAE6-24FD-97B0197C6B78}"/>
              </a:ext>
            </a:extLst>
          </p:cNvPr>
          <p:cNvPicPr>
            <a:picLocks noChangeAspect="1"/>
          </p:cNvPicPr>
          <p:nvPr/>
        </p:nvPicPr>
        <p:blipFill>
          <a:blip r:embed="rId3"/>
          <a:srcRect r="8797"/>
          <a:stretch>
            <a:fillRect/>
          </a:stretch>
        </p:blipFill>
        <p:spPr>
          <a:xfrm>
            <a:off x="2746639" y="1000126"/>
            <a:ext cx="6013903" cy="2922946"/>
          </a:xfrm>
          <a:prstGeom prst="rect">
            <a:avLst/>
          </a:prstGeom>
        </p:spPr>
      </p:pic>
      <p:pic>
        <p:nvPicPr>
          <p:cNvPr id="8" name="Picture 7">
            <a:extLst>
              <a:ext uri="{FF2B5EF4-FFF2-40B4-BE49-F238E27FC236}">
                <a16:creationId xmlns:a16="http://schemas.microsoft.com/office/drawing/2014/main" id="{32B5E0D6-CD77-C889-4C6D-D93DA056CADF}"/>
              </a:ext>
            </a:extLst>
          </p:cNvPr>
          <p:cNvPicPr>
            <a:picLocks noChangeAspect="1"/>
          </p:cNvPicPr>
          <p:nvPr/>
        </p:nvPicPr>
        <p:blipFill>
          <a:blip r:embed="rId4"/>
          <a:stretch>
            <a:fillRect/>
          </a:stretch>
        </p:blipFill>
        <p:spPr>
          <a:xfrm>
            <a:off x="68826" y="3923071"/>
            <a:ext cx="2322915" cy="2344994"/>
          </a:xfrm>
          <a:prstGeom prst="rect">
            <a:avLst/>
          </a:prstGeom>
        </p:spPr>
      </p:pic>
      <p:pic>
        <p:nvPicPr>
          <p:cNvPr id="11" name="Picture 10">
            <a:extLst>
              <a:ext uri="{FF2B5EF4-FFF2-40B4-BE49-F238E27FC236}">
                <a16:creationId xmlns:a16="http://schemas.microsoft.com/office/drawing/2014/main" id="{0A9A5D90-D4DF-501F-B73E-0C00551B6C87}"/>
              </a:ext>
            </a:extLst>
          </p:cNvPr>
          <p:cNvPicPr>
            <a:picLocks noChangeAspect="1"/>
          </p:cNvPicPr>
          <p:nvPr/>
        </p:nvPicPr>
        <p:blipFill>
          <a:blip r:embed="rId5"/>
          <a:stretch>
            <a:fillRect/>
          </a:stretch>
        </p:blipFill>
        <p:spPr>
          <a:xfrm>
            <a:off x="2588386" y="4257368"/>
            <a:ext cx="6299975" cy="2146477"/>
          </a:xfrm>
          <a:prstGeom prst="rect">
            <a:avLst/>
          </a:prstGeom>
        </p:spPr>
      </p:pic>
    </p:spTree>
    <p:extLst>
      <p:ext uri="{BB962C8B-B14F-4D97-AF65-F5344CB8AC3E}">
        <p14:creationId xmlns:p14="http://schemas.microsoft.com/office/powerpoint/2010/main" val="3832556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fontScale="92500" lnSpcReduction="10000"/>
          </a:bodyPr>
          <a:lstStyle/>
          <a:p>
            <a:pPr marL="0" indent="0">
              <a:buNone/>
            </a:pPr>
            <a:r>
              <a:rPr lang="en-US" sz="2800" dirty="0">
                <a:latin typeface="Times New Roman" panose="02020603050405020304" pitchFamily="18" charset="0"/>
                <a:cs typeface="Times New Roman" panose="02020603050405020304" pitchFamily="18" charset="0"/>
              </a:rPr>
              <a:t>I have Successfully developed a multi-level calculator system using Python, consisting of </a:t>
            </a:r>
            <a:r>
              <a:rPr lang="en-US" sz="2800" b="1" dirty="0">
                <a:latin typeface="Times New Roman" panose="02020603050405020304" pitchFamily="18" charset="0"/>
                <a:cs typeface="Times New Roman" panose="02020603050405020304" pitchFamily="18" charset="0"/>
              </a:rPr>
              <a:t>Basic, Jumbo, Advanced, and Pro versions,</a:t>
            </a:r>
            <a:r>
              <a:rPr lang="en-US" sz="2800" dirty="0">
                <a:latin typeface="Times New Roman" panose="02020603050405020304" pitchFamily="18" charset="0"/>
                <a:cs typeface="Times New Roman" panose="02020603050405020304" pitchFamily="18" charset="0"/>
              </a:rPr>
              <a:t> each with increasing functionality. The project integrates various features such as </a:t>
            </a:r>
            <a:r>
              <a:rPr lang="en-US" sz="2800" b="1" dirty="0">
                <a:latin typeface="Times New Roman" panose="02020603050405020304" pitchFamily="18" charset="0"/>
                <a:cs typeface="Times New Roman" panose="02020603050405020304" pitchFamily="18" charset="0"/>
              </a:rPr>
              <a:t>scientific functions, memory operations, graph plotting, and unit conversion</a:t>
            </a:r>
            <a:r>
              <a:rPr lang="en-US" sz="2800" dirty="0">
                <a:latin typeface="Times New Roman" panose="02020603050405020304" pitchFamily="18" charset="0"/>
                <a:cs typeface="Times New Roman" panose="02020603050405020304" pitchFamily="18" charset="0"/>
              </a:rPr>
              <a:t>. A user-friendly graphical interface is designed using </a:t>
            </a:r>
            <a:r>
              <a:rPr lang="en-US" sz="2800" b="1" dirty="0" err="1">
                <a:latin typeface="Times New Roman" panose="02020603050405020304" pitchFamily="18" charset="0"/>
                <a:cs typeface="Times New Roman" panose="02020603050405020304" pitchFamily="18" charset="0"/>
              </a:rPr>
              <a:t>Tkinter</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making the application efficient and suitable for real-world use.</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157E4-2143-DCC1-8797-9ED3E5558DF3}"/>
              </a:ext>
            </a:extLst>
          </p:cNvPr>
          <p:cNvSpPr>
            <a:spLocks noGrp="1"/>
          </p:cNvSpPr>
          <p:nvPr>
            <p:ph type="title"/>
          </p:nvPr>
        </p:nvSpPr>
        <p:spPr>
          <a:xfrm>
            <a:off x="685347" y="609601"/>
            <a:ext cx="7765321" cy="766915"/>
          </a:xfrm>
        </p:spPr>
        <p:txBody>
          <a:bodyPr/>
          <a:lstStyle/>
          <a:p>
            <a:r>
              <a:rPr lang="en-US" b="1" dirty="0">
                <a:latin typeface="Times New Roman" panose="02020603050405020304" pitchFamily="18" charset="0"/>
                <a:cs typeface="Times New Roman" panose="02020603050405020304" pitchFamily="18" charset="0"/>
              </a:rPr>
              <a:t>RECOMMENDATIONS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ECB2B6-6CEE-C9D0-5218-7A202F5BCC89}"/>
              </a:ext>
            </a:extLst>
          </p:cNvPr>
          <p:cNvSpPr>
            <a:spLocks noGrp="1"/>
          </p:cNvSpPr>
          <p:nvPr>
            <p:ph idx="1"/>
          </p:nvPr>
        </p:nvSpPr>
        <p:spPr>
          <a:xfrm>
            <a:off x="685346" y="1661653"/>
            <a:ext cx="7765322" cy="4719482"/>
          </a:xfrm>
        </p:spPr>
        <p:txBody>
          <a:bodyPr>
            <a:normAutofit fontScale="85000" lnSpcReduction="20000"/>
          </a:bodyPr>
          <a:lstStyle/>
          <a:p>
            <a:pPr>
              <a:buFont typeface="Wingdings" panose="05000000000000000000" pitchFamily="2" charset="2"/>
              <a:buChar char="Ø"/>
            </a:pPr>
            <a:r>
              <a:rPr lang="en-IN" b="1" dirty="0">
                <a:solidFill>
                  <a:srgbClr val="C00000"/>
                </a:solidFill>
                <a:latin typeface="Times New Roman" panose="02020603050405020304" pitchFamily="18" charset="0"/>
                <a:cs typeface="Times New Roman" panose="02020603050405020304" pitchFamily="18" charset="0"/>
              </a:rPr>
              <a:t> </a:t>
            </a:r>
            <a:r>
              <a:rPr lang="en-IN" sz="2200" b="1" u="sng" dirty="0">
                <a:solidFill>
                  <a:srgbClr val="FFFF00"/>
                </a:solidFill>
                <a:latin typeface="Times New Roman" panose="02020603050405020304" pitchFamily="18" charset="0"/>
                <a:cs typeface="Times New Roman" panose="02020603050405020304" pitchFamily="18" charset="0"/>
              </a:rPr>
              <a:t>Future </a:t>
            </a:r>
            <a:r>
              <a:rPr lang="en-IN" sz="2200" b="1" u="sng" dirty="0" err="1">
                <a:solidFill>
                  <a:srgbClr val="FFFF00"/>
                </a:solidFill>
                <a:latin typeface="Times New Roman" panose="02020603050405020304" pitchFamily="18" charset="0"/>
                <a:cs typeface="Times New Roman" panose="02020603050405020304" pitchFamily="18" charset="0"/>
              </a:rPr>
              <a:t>ImprovementS</a:t>
            </a:r>
            <a:endParaRPr lang="en-IN" sz="2200" b="1" u="sng" dirty="0">
              <a:solidFill>
                <a:srgbClr val="FFFF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Improve UI with </a:t>
            </a:r>
            <a:r>
              <a:rPr lang="en-US" b="1" dirty="0">
                <a:latin typeface="Times New Roman" panose="02020603050405020304" pitchFamily="18" charset="0"/>
                <a:cs typeface="Times New Roman" panose="02020603050405020304" pitchFamily="18" charset="0"/>
              </a:rPr>
              <a:t>modern themes and animations.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Add </a:t>
            </a:r>
            <a:r>
              <a:rPr lang="en-IN" b="1" dirty="0">
                <a:latin typeface="Times New Roman" panose="02020603050405020304" pitchFamily="18" charset="0"/>
                <a:cs typeface="Times New Roman" panose="02020603050405020304" pitchFamily="18" charset="0"/>
              </a:rPr>
              <a:t>history save/export feature</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Optimize performance for large calculations .</a:t>
            </a:r>
          </a:p>
          <a:p>
            <a:pPr>
              <a:buFont typeface="Wingdings" panose="05000000000000000000" pitchFamily="2" charset="2"/>
              <a:buChar char="Ø"/>
            </a:pPr>
            <a:r>
              <a:rPr lang="en-IN" b="1" dirty="0">
                <a:solidFill>
                  <a:srgbClr val="C00000"/>
                </a:solidFill>
                <a:latin typeface="Times New Roman" panose="02020603050405020304" pitchFamily="18" charset="0"/>
                <a:cs typeface="Times New Roman" panose="02020603050405020304" pitchFamily="18" charset="0"/>
              </a:rPr>
              <a:t> </a:t>
            </a:r>
            <a:r>
              <a:rPr lang="en-IN" b="1" u="sng" dirty="0">
                <a:solidFill>
                  <a:srgbClr val="FFFF00"/>
                </a:solidFill>
                <a:latin typeface="Times New Roman" panose="02020603050405020304" pitchFamily="18" charset="0"/>
                <a:cs typeface="Times New Roman" panose="02020603050405020304" pitchFamily="18" charset="0"/>
              </a:rPr>
              <a:t>System Enhancements</a:t>
            </a:r>
          </a:p>
          <a:p>
            <a:r>
              <a:rPr lang="en-IN" dirty="0">
                <a:latin typeface="Times New Roman" panose="02020603050405020304" pitchFamily="18" charset="0"/>
                <a:cs typeface="Times New Roman" panose="02020603050405020304" pitchFamily="18" charset="0"/>
              </a:rPr>
              <a:t>Convert desktop app into </a:t>
            </a:r>
            <a:r>
              <a:rPr lang="en-IN" b="1" dirty="0">
                <a:latin typeface="Times New Roman" panose="02020603050405020304" pitchFamily="18" charset="0"/>
                <a:cs typeface="Times New Roman" panose="02020603050405020304" pitchFamily="18" charset="0"/>
              </a:rPr>
              <a:t>web/mobile application</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Add </a:t>
            </a:r>
            <a:r>
              <a:rPr lang="en-IN" b="1" dirty="0">
                <a:latin typeface="Times New Roman" panose="02020603050405020304" pitchFamily="18" charset="0"/>
                <a:cs typeface="Times New Roman" panose="02020603050405020304" pitchFamily="18" charset="0"/>
              </a:rPr>
              <a:t>voice input support</a:t>
            </a:r>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Implement </a:t>
            </a:r>
            <a:r>
              <a:rPr lang="en-IN" b="1" dirty="0">
                <a:latin typeface="Times New Roman" panose="02020603050405020304" pitchFamily="18" charset="0"/>
                <a:cs typeface="Times New Roman" panose="02020603050405020304" pitchFamily="18" charset="0"/>
              </a:rPr>
              <a:t>AI-based smart suggestions</a:t>
            </a:r>
            <a:r>
              <a:rPr lang="en-IN" dirty="0">
                <a:latin typeface="Times New Roman" panose="02020603050405020304" pitchFamily="18" charset="0"/>
                <a:cs typeface="Times New Roman" panose="02020603050405020304" pitchFamily="18" charset="0"/>
              </a:rPr>
              <a:t> for calculations .</a:t>
            </a:r>
          </a:p>
          <a:p>
            <a:pPr>
              <a:buFont typeface="Wingdings" panose="05000000000000000000" pitchFamily="2" charset="2"/>
              <a:buChar char="Ø"/>
            </a:pPr>
            <a:r>
              <a:rPr lang="en-IN" b="1" u="sng" dirty="0">
                <a:latin typeface="Times New Roman" panose="02020603050405020304" pitchFamily="18" charset="0"/>
                <a:cs typeface="Times New Roman" panose="02020603050405020304" pitchFamily="18" charset="0"/>
              </a:rPr>
              <a:t> </a:t>
            </a:r>
            <a:r>
              <a:rPr lang="en-IN" b="1" u="sng" dirty="0">
                <a:solidFill>
                  <a:srgbClr val="FFFF00"/>
                </a:solidFill>
                <a:latin typeface="Times New Roman" panose="02020603050405020304" pitchFamily="18" charset="0"/>
                <a:cs typeface="Times New Roman" panose="02020603050405020304" pitchFamily="18" charset="0"/>
              </a:rPr>
              <a:t>User Experience Improvements</a:t>
            </a:r>
            <a:r>
              <a:rPr lang="en-IN" b="1" dirty="0">
                <a:solidFill>
                  <a:srgbClr val="C00000"/>
                </a:solidFill>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More customizable layout options .</a:t>
            </a:r>
          </a:p>
          <a:p>
            <a:r>
              <a:rPr lang="en-IN" dirty="0">
                <a:latin typeface="Times New Roman" panose="02020603050405020304" pitchFamily="18" charset="0"/>
                <a:cs typeface="Times New Roman" panose="02020603050405020304" pitchFamily="18" charset="0"/>
              </a:rPr>
              <a:t>Dark/Light mode toggle ..</a:t>
            </a:r>
          </a:p>
          <a:p>
            <a:r>
              <a:rPr lang="en-IN" dirty="0">
                <a:latin typeface="Times New Roman" panose="02020603050405020304" pitchFamily="18" charset="0"/>
                <a:cs typeface="Times New Roman" panose="02020603050405020304" pitchFamily="18" charset="0"/>
              </a:rPr>
              <a:t>Better error handling and user guidance</a:t>
            </a:r>
          </a:p>
          <a:p>
            <a:endParaRPr lang="en-IN" dirty="0"/>
          </a:p>
        </p:txBody>
      </p:sp>
    </p:spTree>
    <p:extLst>
      <p:ext uri="{BB962C8B-B14F-4D97-AF65-F5344CB8AC3E}">
        <p14:creationId xmlns:p14="http://schemas.microsoft.com/office/powerpoint/2010/main" val="3716137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93107-DA62-1337-88B2-DEB2031E2AC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BIBLOGRAPHY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1F97BA-A3F5-ADE0-E85B-FD2A657A7E89}"/>
              </a:ext>
            </a:extLst>
          </p:cNvPr>
          <p:cNvSpPr>
            <a:spLocks noGrp="1"/>
          </p:cNvSpPr>
          <p:nvPr>
            <p:ph idx="1"/>
          </p:nvPr>
        </p:nvSpPr>
        <p:spPr/>
        <p:txBody>
          <a:bodyPr>
            <a:normAutofit/>
          </a:bodyPr>
          <a:lstStyle/>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hlinkClick r:id="rId2"/>
              </a:rPr>
              <a:t>https://www.geeksforgeeks.org/python/python-simple-gui-calculator-using-tkinter/</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2400" dirty="0">
                <a:latin typeface="Times New Roman" panose="02020603050405020304" pitchFamily="18" charset="0"/>
                <a:cs typeface="Times New Roman" panose="02020603050405020304" pitchFamily="18" charset="0"/>
                <a:hlinkClick r:id="rId3"/>
              </a:rPr>
              <a:t>https://matplotlib.org/stable/users/index.html</a:t>
            </a:r>
            <a:endParaRPr lang="en-IN"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0533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5C74EB48-1E91-5D55-39A1-E824F386D9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79" y="68826"/>
            <a:ext cx="8992831" cy="6789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29009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238</TotalTime>
  <Words>997</Words>
  <Application>Microsoft Office PowerPoint</Application>
  <PresentationFormat>On-screen Show (4:3)</PresentationFormat>
  <Paragraphs>81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Bookman Old Style</vt:lpstr>
      <vt:lpstr>Rockwell</vt:lpstr>
      <vt:lpstr>Times New Roman</vt:lpstr>
      <vt:lpstr>Wingdings</vt:lpstr>
      <vt:lpstr>Damask</vt:lpstr>
      <vt:lpstr>PowerPoint Presentation</vt:lpstr>
      <vt:lpstr>INTRODUCTION</vt:lpstr>
      <vt:lpstr>OBJECTIVE</vt:lpstr>
      <vt:lpstr>TECHNOLOGIES USED</vt:lpstr>
      <vt:lpstr>INSTALLATIONS &amp; SETUIP</vt:lpstr>
      <vt:lpstr>FEATURES</vt:lpstr>
      <vt:lpstr>ADVANCED FEATURES</vt:lpstr>
      <vt:lpstr>WORKINGS</vt:lpstr>
      <vt:lpstr>FILES USED</vt:lpstr>
      <vt:lpstr>CODING +OUTPUTS </vt:lpstr>
      <vt:lpstr>CODING+OUTPUTS</vt:lpstr>
      <vt:lpstr>PowerPoint Presentation</vt:lpstr>
      <vt:lpstr>CODING+OUTPUTS</vt:lpstr>
      <vt:lpstr>PowerPoint Presentation</vt:lpstr>
      <vt:lpstr>PowerPoint Presentation</vt:lpstr>
      <vt:lpstr>CODING+OUTPUT</vt:lpstr>
      <vt:lpstr>PowerPoint Presentation</vt:lpstr>
      <vt:lpstr>PowerPoint Presentation</vt:lpstr>
      <vt:lpstr>MORE OUTPUTS</vt:lpstr>
      <vt:lpstr>Conclusion</vt:lpstr>
      <vt:lpstr>RECOMMENDATIONS</vt:lpstr>
      <vt:lpstr>BIBLOGRAPHY</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Harshita Gautanm</dc:creator>
  <cp:keywords/>
  <dc:description>generated using python-pptx</dc:description>
  <cp:lastModifiedBy>Harshita Gautam</cp:lastModifiedBy>
  <cp:revision>2</cp:revision>
  <dcterms:created xsi:type="dcterms:W3CDTF">2013-01-27T09:14:16Z</dcterms:created>
  <dcterms:modified xsi:type="dcterms:W3CDTF">2026-04-25T10:12:13Z</dcterms:modified>
  <cp:category/>
</cp:coreProperties>
</file>